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8221D"/>
          </a:solidFill>
          <a:ln>
            <a:solidFill>
              <a:srgbClr val="1822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502920"/>
            <a:ext cx="164592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900" b="1">
                <a:solidFill>
                  <a:srgbClr val="76C19C"/>
                </a:solidFill>
                <a:latin typeface="Aptos"/>
              </a:defRPr>
            </a:pPr>
            <a:r>
              <a:t>L A B   N O T 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097280"/>
            <a:ext cx="2057400" cy="42976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Deep Residual Learning for Image Recognition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897880"/>
            <a:ext cx="19202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000" b="0">
                <a:solidFill>
                  <a:srgbClr val="EBF3EC"/>
                </a:solidFill>
                <a:latin typeface="Aptos"/>
              </a:defRPr>
            </a:pPr>
            <a:r>
              <a:t>Fresh parse -&gt; four route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822960"/>
            <a:ext cx="713232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400" b="1">
                <a:solidFill>
                  <a:srgbClr val="18221D"/>
                </a:solidFill>
                <a:latin typeface="Aptos"/>
              </a:defRPr>
            </a:pPr>
            <a:r>
              <a:t>Claim Verification 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1389888"/>
            <a:ext cx="676656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400" b="0">
                <a:solidFill>
                  <a:srgbClr val="54635B"/>
                </a:solidFill>
                <a:latin typeface="Aptos"/>
              </a:defRPr>
            </a:pPr>
            <a:r>
              <a:t>This route uses a blueprint grammar: rectangular ledgers, axis lines, and evidence boards.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2148840"/>
            <a:ext cx="68580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03320" y="2148840"/>
            <a:ext cx="91440" cy="82296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0208" y="2258568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54635B"/>
                </a:solidFill>
                <a:latin typeface="Aptos"/>
              </a:defRPr>
            </a:pPr>
            <a:r>
              <a:t>S I G N A L  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8" y="2459736"/>
            <a:ext cx="60807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8221D"/>
                </a:solidFill>
                <a:latin typeface="Aptos"/>
              </a:defRPr>
            </a:pPr>
            <a:r>
              <a:rPr sz="1300" b="0">
                <a:solidFill>
                  <a:srgbClr val="272D33"/>
                </a:solidFill>
                <a:latin typeface="Aptos"/>
              </a:rPr>
              <a:t>Claim-first cards expose the problem, method, and evidence path.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3291840"/>
            <a:ext cx="68580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3291840"/>
            <a:ext cx="91440" cy="822960"/>
          </a:xfrm>
          <a:prstGeom prst="rect">
            <a:avLst/>
          </a:prstGeom>
          <a:solidFill>
            <a:srgbClr val="348958"/>
          </a:solidFill>
          <a:ln>
            <a:solidFill>
              <a:srgbClr val="34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0208" y="3401568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54635B"/>
                </a:solidFill>
                <a:latin typeface="Aptos"/>
              </a:defRPr>
            </a:pPr>
            <a:r>
              <a:t>S I G N A L  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0208" y="3602736"/>
            <a:ext cx="60807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8221D"/>
                </a:solidFill>
                <a:latin typeface="Aptos"/>
              </a:defRPr>
            </a:pPr>
            <a:r>
              <a:rPr sz="1300" b="0">
                <a:solidFill>
                  <a:srgbClr val="272D33"/>
                </a:solidFill>
                <a:latin typeface="Aptos"/>
              </a:rPr>
              <a:t>Source figures and tables stay traceable inside editable proof panels.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4434840"/>
            <a:ext cx="68580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03320" y="4434840"/>
            <a:ext cx="91440" cy="822960"/>
          </a:xfrm>
          <a:prstGeom prst="rect">
            <a:avLst/>
          </a:prstGeom>
          <a:solidFill>
            <a:srgbClr val="B0623E"/>
          </a:solidFill>
          <a:ln>
            <a:solidFill>
              <a:srgbClr val="B06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0208" y="4544568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54635B"/>
                </a:solidFill>
                <a:latin typeface="Aptos"/>
              </a:defRPr>
            </a:pPr>
            <a:r>
              <a:t>S I G N A L  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4745736"/>
            <a:ext cx="60807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8221D"/>
                </a:solidFill>
                <a:latin typeface="Aptos"/>
              </a:defRPr>
            </a:pPr>
            <a:r>
              <a:rPr sz="1300" b="0">
                <a:solidFill>
                  <a:srgbClr val="272D33"/>
                </a:solidFill>
                <a:latin typeface="Aptos"/>
              </a:rPr>
              <a:t>Nonvisual audit converts layout defects into scoped repair rules.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" y="6446520"/>
            <a:ext cx="576072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blind rectangular research board / no protected baseline grammar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25328" y="644652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750" b="0">
                <a:solidFill>
                  <a:srgbClr val="54635B"/>
                </a:solidFill>
                <a:latin typeface="Aptos"/>
              </a:defRPr>
            </a:pPr>
            <a:r>
              <a:t>01/29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"/>
            <a:ext cx="292608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3000" b="1">
                <a:solidFill>
                  <a:srgbClr val="18221D"/>
                </a:solidFill>
                <a:latin typeface="Aptos"/>
              </a:defRPr>
            </a:pPr>
            <a:r>
              <a:t>Experiment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060704"/>
            <a:ext cx="5303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300" b="0">
                <a:solidFill>
                  <a:srgbClr val="54635B"/>
                </a:solidFill>
                <a:latin typeface="Aptos"/>
              </a:defRPr>
            </a:pPr>
            <a:r>
              <a:t>The deck is organized as a sequence of claim/evidence ledgers.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1600200"/>
            <a:ext cx="98755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1600200"/>
            <a:ext cx="182880" cy="713232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1755648"/>
            <a:ext cx="502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500" b="1">
                <a:solidFill>
                  <a:srgbClr val="306C8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1728216"/>
            <a:ext cx="292608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600" b="1">
                <a:solidFill>
                  <a:srgbClr val="18221D"/>
                </a:solidFill>
                <a:latin typeface="Aptos"/>
              </a:defRPr>
            </a:pPr>
            <a:r>
              <a:t>Premise &amp; Stakes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755648"/>
            <a:ext cx="4343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00" b="0">
                <a:solidFill>
                  <a:srgbClr val="54635B"/>
                </a:solidFill>
                <a:latin typeface="Aptos"/>
              </a:defRPr>
            </a:pPr>
            <a:r>
              <a:t>Research Problem; Limitations of Existing Methods 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764792"/>
            <a:ext cx="685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900" b="1">
                <a:solidFill>
                  <a:srgbClr val="306C8D"/>
                </a:solidFill>
                <a:latin typeface="Aptos"/>
              </a:defRPr>
            </a:pPr>
            <a:r>
              <a:t>3 slides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2624328"/>
            <a:ext cx="98755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2624328"/>
            <a:ext cx="182880" cy="713232"/>
          </a:xfrm>
          <a:prstGeom prst="rect">
            <a:avLst/>
          </a:prstGeom>
          <a:solidFill>
            <a:srgbClr val="348958"/>
          </a:solidFill>
          <a:ln>
            <a:solidFill>
              <a:srgbClr val="34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2779776"/>
            <a:ext cx="502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500" b="1">
                <a:solidFill>
                  <a:srgbClr val="34895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2752344"/>
            <a:ext cx="292608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600" b="1">
                <a:solidFill>
                  <a:srgbClr val="18221D"/>
                </a:solidFill>
                <a:latin typeface="Aptos"/>
              </a:defRPr>
            </a:pPr>
            <a:r>
              <a:t>Mechanism &amp; 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779776"/>
            <a:ext cx="4343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00" b="0">
                <a:solidFill>
                  <a:srgbClr val="54635B"/>
                </a:solidFill>
                <a:latin typeface="Aptos"/>
              </a:defRPr>
            </a:pPr>
            <a:r>
              <a:t>Network Architecture / Stage Design; Training Details – SGD 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788920"/>
            <a:ext cx="685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900" b="1">
                <a:solidFill>
                  <a:srgbClr val="348958"/>
                </a:solidFill>
                <a:latin typeface="Aptos"/>
              </a:defRPr>
            </a:pPr>
            <a:r>
              <a:t>2 slides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3648456"/>
            <a:ext cx="98755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" y="3648456"/>
            <a:ext cx="182880" cy="713232"/>
          </a:xfrm>
          <a:prstGeom prst="rect">
            <a:avLst/>
          </a:prstGeom>
          <a:solidFill>
            <a:srgbClr val="B0623E"/>
          </a:solidFill>
          <a:ln>
            <a:solidFill>
              <a:srgbClr val="B06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3803904"/>
            <a:ext cx="502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500" b="1">
                <a:solidFill>
                  <a:srgbClr val="B062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3776472"/>
            <a:ext cx="292608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600" b="1">
                <a:solidFill>
                  <a:srgbClr val="18221D"/>
                </a:solidFill>
                <a:latin typeface="Aptos"/>
              </a:defRPr>
            </a:pPr>
            <a:r>
              <a:t>Evidence &amp;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3803904"/>
            <a:ext cx="4343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00" b="0">
                <a:solidFill>
                  <a:srgbClr val="54635B"/>
                </a:solidFill>
                <a:latin typeface="Aptos"/>
              </a:defRPr>
            </a:pPr>
            <a:r>
              <a:t>Deep Residual Learning Framework –; Residual Building Block – Two‑Layer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813048"/>
            <a:ext cx="685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900" b="1">
                <a:solidFill>
                  <a:srgbClr val="B0623E"/>
                </a:solidFill>
                <a:latin typeface="Aptos"/>
              </a:defRPr>
            </a:pPr>
            <a:r>
              <a:t>14 slides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" y="4672584"/>
            <a:ext cx="98755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" y="4672584"/>
            <a:ext cx="182880" cy="713232"/>
          </a:xfrm>
          <a:prstGeom prst="rect">
            <a:avLst/>
          </a:prstGeom>
          <a:solidFill>
            <a:srgbClr val="AD9948"/>
          </a:solidFill>
          <a:ln>
            <a:solidFill>
              <a:srgbClr val="AD9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4828032"/>
            <a:ext cx="502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500" b="1">
                <a:solidFill>
                  <a:srgbClr val="AD994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4800600"/>
            <a:ext cx="292608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600" b="1">
                <a:solidFill>
                  <a:srgbClr val="18221D"/>
                </a:solidFill>
                <a:latin typeface="Aptos"/>
              </a:defRPr>
            </a:pPr>
            <a:r>
              <a:t>Implications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4828032"/>
            <a:ext cx="4343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00" b="0">
                <a:solidFill>
                  <a:srgbClr val="54635B"/>
                </a:solidFill>
                <a:latin typeface="Aptos"/>
              </a:defRPr>
            </a:pPr>
            <a:r>
              <a:t>Deep Residual Learning for Image; Normalization, Nonlinearities, and No Gating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837176"/>
            <a:ext cx="685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900" b="1">
                <a:solidFill>
                  <a:srgbClr val="AD9948"/>
                </a:solidFill>
                <a:latin typeface="Aptos"/>
              </a:defRPr>
            </a:pPr>
            <a:r>
              <a:t>3 slides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6446520"/>
            <a:ext cx="576072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blind rectangular research board / no protected baseline grammar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25328" y="644652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750" b="0">
                <a:solidFill>
                  <a:srgbClr val="54635B"/>
                </a:solidFill>
                <a:latin typeface="Aptos"/>
              </a:defRPr>
            </a:pPr>
            <a:r>
              <a:t>02/29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731520"/>
            <a:ext cx="106070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731520"/>
            <a:ext cx="10607040" cy="164592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325880"/>
            <a:ext cx="2011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000" b="1">
                <a:solidFill>
                  <a:srgbClr val="306C8D"/>
                </a:solidFill>
                <a:latin typeface="Aptos"/>
              </a:defRPr>
            </a:pPr>
            <a:r>
              <a:t>M O D U L E   0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874519"/>
            <a:ext cx="7955279" cy="59436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3400" b="1">
                <a:solidFill>
                  <a:srgbClr val="18221D"/>
                </a:solidFill>
                <a:latin typeface="Aptos"/>
              </a:defRPr>
            </a:pPr>
            <a:r>
              <a:t>Premise &amp; Stakes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657600"/>
            <a:ext cx="877824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500" b="0">
                <a:solidFill>
                  <a:srgbClr val="54635B"/>
                </a:solidFill>
                <a:latin typeface="Aptos"/>
              </a:defRPr>
            </a:pPr>
            <a:r>
              <a:t>Research Problem / Limitations of Existing Methods – Vanishing/Exploding / Limitations – The Degradation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6446520"/>
            <a:ext cx="576072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blind rectangular research board / no protected baseline grammar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25328" y="644652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750" b="0">
                <a:solidFill>
                  <a:srgbClr val="54635B"/>
                </a:solidFill>
                <a:latin typeface="Aptos"/>
              </a:defRPr>
            </a:pPr>
            <a:r>
              <a:t>03/29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P R E M I S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Research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04/29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70432"/>
            <a:ext cx="384048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70432"/>
            <a:ext cx="109728" cy="489204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417320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19072"/>
            <a:ext cx="2971800" cy="11704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900" b="1">
                <a:solidFill>
                  <a:srgbClr val="18221D"/>
                </a:solidFill>
                <a:latin typeface="Aptos"/>
              </a:defRPr>
            </a:pPr>
            <a:r>
              <a:t>Training deeper networks suffers from a degradation problem.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2724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48958"/>
                </a:solidFill>
                <a:latin typeface="Aptos"/>
              </a:defRPr>
            </a:pPr>
            <a:r>
              <a:t>R E A D I N G   N O T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30632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250" b="0">
                <a:solidFill>
                  <a:srgbClr val="54635B"/>
                </a:solidFill>
                <a:latin typeface="Aptos"/>
              </a:defRPr>
            </a:pPr>
            <a:r>
              <a:t>Deeper plain networks have higher training error than shallower ones. Reformulating mapping.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170432"/>
            <a:ext cx="6748272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417320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B0623E"/>
                </a:solidFill>
                <a:latin typeface="Aptos"/>
              </a:defRPr>
            </a:pPr>
            <a:r>
              <a:t>E V I D E N C E   /   T E X T _ E V I D E N C 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76088" y="2313432"/>
            <a:ext cx="5678424" cy="65836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76088" y="2313432"/>
            <a:ext cx="73152" cy="658368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13831" y="2404872"/>
            <a:ext cx="5303520" cy="4754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rmAutofit/>
          </a:bodyPr>
          <a:lstStyle/>
          <a:p>
            <a:pPr>
              <a:defRPr sz="1220" b="1">
                <a:solidFill>
                  <a:srgbClr val="18221D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76088" y="3200400"/>
            <a:ext cx="5678424" cy="877824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76088" y="3200400"/>
            <a:ext cx="73152" cy="877824"/>
          </a:xfrm>
          <a:prstGeom prst="rect">
            <a:avLst/>
          </a:prstGeom>
          <a:solidFill>
            <a:srgbClr val="348958"/>
          </a:solidFill>
          <a:ln>
            <a:solidFill>
              <a:srgbClr val="34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13831" y="3291840"/>
            <a:ext cx="5303520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rmAutofit/>
          </a:bodyPr>
          <a:lstStyle/>
          <a:p>
            <a:pPr>
              <a:defRPr sz="1080" b="0">
                <a:solidFill>
                  <a:srgbClr val="18221D"/>
                </a:solidFill>
                <a:latin typeface="Aptos"/>
              </a:defRPr>
            </a:pPr>
            <a:r>
              <a:t>The paper addresses the problem of training much deeper convolutional neural networks for image recognition. Concretely, it asks: can we reliably train.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76088" y="4306824"/>
            <a:ext cx="5678424" cy="74980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76088" y="4306824"/>
            <a:ext cx="73152" cy="749808"/>
          </a:xfrm>
          <a:prstGeom prst="rect">
            <a:avLst/>
          </a:prstGeom>
          <a:solidFill>
            <a:srgbClr val="B0623E"/>
          </a:solidFill>
          <a:ln>
            <a:solidFill>
              <a:srgbClr val="B06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13831" y="4398264"/>
            <a:ext cx="5303520" cy="566927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rmAutofit/>
          </a:bodyPr>
          <a:lstStyle/>
          <a:p>
            <a:pPr>
              <a:defRPr sz="1080" b="0">
                <a:solidFill>
                  <a:srgbClr val="18221D"/>
                </a:solidFill>
                <a:latin typeface="Aptos"/>
              </a:defRPr>
            </a:pPr>
            <a:r>
              <a:t>Evidence is preserved from this run's fresh parse checkpoints.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plan:slide_02; slide_spec:slide_02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P R E M I S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Limitations of Existing Methods – Vanishing/Exploding Gradients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05/29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70432"/>
            <a:ext cx="384048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70432"/>
            <a:ext cx="109728" cy="489204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417320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19072"/>
            <a:ext cx="2971800" cy="11704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900" b="1">
                <a:solidFill>
                  <a:srgbClr val="18221D"/>
                </a:solidFill>
                <a:latin typeface="Aptos"/>
              </a:defRPr>
            </a:pPr>
            <a:r>
              <a:t>Vanishing gradients were mitigated but degradation remained.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2724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48958"/>
                </a:solidFill>
                <a:latin typeface="Aptos"/>
              </a:defRPr>
            </a:pPr>
            <a:r>
              <a:t>R E A D I N G   N O T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30632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250" b="0">
                <a:solidFill>
                  <a:srgbClr val="54635B"/>
                </a:solidFill>
                <a:latin typeface="Aptos"/>
              </a:defRPr>
            </a:pPr>
            <a:r>
              <a:t>Early deep networks struggled with gradient flow during backpropagation. Normalized initialization and.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170432"/>
            <a:ext cx="6748272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417320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B0623E"/>
                </a:solidFill>
                <a:latin typeface="Aptos"/>
              </a:defRPr>
            </a:pPr>
            <a:r>
              <a:t>E V I D E N C E   /   T E X T _ E V I D E N C 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76088" y="2313432"/>
            <a:ext cx="5678424" cy="65836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76088" y="2313432"/>
            <a:ext cx="73152" cy="658368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13831" y="2404872"/>
            <a:ext cx="5303520" cy="4754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rmAutofit/>
          </a:bodyPr>
          <a:lstStyle/>
          <a:p>
            <a:pPr>
              <a:defRPr sz="1220" b="1">
                <a:solidFill>
                  <a:srgbClr val="18221D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76088" y="3200400"/>
            <a:ext cx="5678424" cy="877824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76088" y="3200400"/>
            <a:ext cx="73152" cy="877824"/>
          </a:xfrm>
          <a:prstGeom prst="rect">
            <a:avLst/>
          </a:prstGeom>
          <a:solidFill>
            <a:srgbClr val="348958"/>
          </a:solidFill>
          <a:ln>
            <a:solidFill>
              <a:srgbClr val="34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13831" y="3291840"/>
            <a:ext cx="5303520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rmAutofit/>
          </a:bodyPr>
          <a:lstStyle/>
          <a:p>
            <a:pPr>
              <a:defRPr sz="1080" b="0">
                <a:solidFill>
                  <a:srgbClr val="18221D"/>
                </a:solidFill>
                <a:latin typeface="Aptos"/>
              </a:defRPr>
            </a:pPr>
            <a:r>
              <a:t>Early deep models suffered from gradients that vanish or explode during backpropagation, making it very hard to train networks with many layers..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76088" y="4306824"/>
            <a:ext cx="5678424" cy="74980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76088" y="4306824"/>
            <a:ext cx="73152" cy="749808"/>
          </a:xfrm>
          <a:prstGeom prst="rect">
            <a:avLst/>
          </a:prstGeom>
          <a:solidFill>
            <a:srgbClr val="B0623E"/>
          </a:solidFill>
          <a:ln>
            <a:solidFill>
              <a:srgbClr val="B06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13831" y="4398264"/>
            <a:ext cx="5303520" cy="566927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rmAutofit/>
          </a:bodyPr>
          <a:lstStyle/>
          <a:p>
            <a:pPr>
              <a:defRPr sz="1080" b="0">
                <a:solidFill>
                  <a:srgbClr val="18221D"/>
                </a:solidFill>
                <a:latin typeface="Aptos"/>
              </a:defRPr>
            </a:pPr>
            <a:r>
              <a:t>Evidence is preserved from this run's fresh parse checkpoints.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plan:slide_03; slide_spec:slide_03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P R E M I S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Limitations – The Degradation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06/29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33856"/>
            <a:ext cx="108813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33856"/>
            <a:ext cx="109728" cy="14173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1307592"/>
            <a:ext cx="82296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0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536192"/>
            <a:ext cx="388620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Deeper plain networks have higher training error than shallower.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517904"/>
            <a:ext cx="5669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50" b="0">
                <a:solidFill>
                  <a:srgbClr val="54635B"/>
                </a:solidFill>
                <a:latin typeface="Aptos"/>
              </a:defRPr>
            </a:pPr>
            <a:r>
              <a:t>On CIFAR-10, 56-layer has higher training and test error. Training error increases, indicating optimization difficulty.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788920"/>
            <a:ext cx="10881360" cy="3273552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2990088"/>
            <a:ext cx="237744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00" b="1">
                <a:solidFill>
                  <a:srgbClr val="B0623E"/>
                </a:solidFill>
                <a:latin typeface="Aptos"/>
              </a:defRPr>
            </a:pPr>
            <a:r>
              <a:t>E V I D E N C E   /   F I G U R E</a:t>
            </a:r>
          </a:p>
        </p:txBody>
      </p:sp>
      <p:pic>
        <p:nvPicPr>
          <p:cNvPr id="22" name="Picture 21" descr="193c2eb397353028411168dff529d93fab19c19dce3063761316f1dfb1d5a2c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061" y="3236976"/>
            <a:ext cx="6339677" cy="21579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4440" y="5504688"/>
            <a:ext cx="9646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>
              <a:defRPr sz="850" b="0">
                <a:solidFill>
                  <a:srgbClr val="54635B"/>
                </a:solidFill>
                <a:latin typeface="Aptos"/>
              </a:defRPr>
            </a:pPr>
            <a:r>
              <a:t>Training error on CIFAR-10 showing degradation of deeper plain network.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plan:slide_04; slide_spec:slide_04; figure:Figure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731520"/>
            <a:ext cx="106070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731520"/>
            <a:ext cx="10607040" cy="164592"/>
          </a:xfrm>
          <a:prstGeom prst="rect">
            <a:avLst/>
          </a:prstGeom>
          <a:solidFill>
            <a:srgbClr val="348958"/>
          </a:solidFill>
          <a:ln>
            <a:solidFill>
              <a:srgbClr val="34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325880"/>
            <a:ext cx="2011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000" b="1">
                <a:solidFill>
                  <a:srgbClr val="348958"/>
                </a:solidFill>
                <a:latin typeface="Aptos"/>
              </a:defRPr>
            </a:pPr>
            <a:r>
              <a:t>M O D U L E   0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874519"/>
            <a:ext cx="7955279" cy="59436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3400" b="1">
                <a:solidFill>
                  <a:srgbClr val="18221D"/>
                </a:solidFill>
                <a:latin typeface="Aptos"/>
              </a:defRPr>
            </a:pPr>
            <a:r>
              <a:t>Mechanism &amp;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657600"/>
            <a:ext cx="877824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500" b="0">
                <a:solidFill>
                  <a:srgbClr val="54635B"/>
                </a:solidFill>
                <a:latin typeface="Aptos"/>
              </a:defRPr>
            </a:pPr>
            <a:r>
              <a:t>Network Architecture / Stage Design / Training Details – SGD and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6446520"/>
            <a:ext cx="576072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blind rectangular research board / no protected baseline grammar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25328" y="644652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750" b="0">
                <a:solidFill>
                  <a:srgbClr val="54635B"/>
                </a:solidFill>
                <a:latin typeface="Aptos"/>
              </a:defRPr>
            </a:pPr>
            <a:r>
              <a:t>07/29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M E C H A N I S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Network Architecture / Stage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08/29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33856"/>
            <a:ext cx="108813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33856"/>
            <a:ext cx="109728" cy="14173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1307592"/>
            <a:ext cx="82296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0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536192"/>
            <a:ext cx="388620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ResNets are composed of stages with doubling filters at.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517904"/>
            <a:ext cx="5669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50" b="0">
                <a:solidFill>
                  <a:srgbClr val="54635B"/>
                </a:solidFill>
                <a:latin typeface="Aptos"/>
              </a:defRPr>
            </a:pPr>
            <a:r>
              <a:t>When size halves, channels double to maintain complexity. First block of each stage uses stride 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788920"/>
            <a:ext cx="10881360" cy="3273552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2990088"/>
            <a:ext cx="237744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00" b="1">
                <a:solidFill>
                  <a:srgbClr val="B0623E"/>
                </a:solidFill>
                <a:latin typeface="Aptos"/>
              </a:defRPr>
            </a:pPr>
            <a:r>
              <a:t>E V I D E N C E   /   T A B L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264408"/>
            <a:ext cx="9738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900" b="1">
                <a:solidFill>
                  <a:srgbClr val="306C8D"/>
                </a:solidFill>
                <a:latin typeface="Aptos"/>
              </a:defRPr>
            </a:pPr>
            <a:r>
              <a:t>Focused table view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188719" y="3547872"/>
          <a:ext cx="9738359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275"/>
                <a:gridCol w="6622084"/>
              </a:tblGrid>
              <a:tr h="295656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18221D"/>
                          </a:solidFill>
                          <a:latin typeface="Aptos"/>
                        </a:defRPr>
                      </a:pPr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18221D"/>
                          </a:solidFill>
                          <a:latin typeface="Aptos"/>
                        </a:defRPr>
                      </a:pPr>
                      <a:r>
                        <a:t>Readable evidence</a:t>
                      </a:r>
                    </a:p>
                  </a:txBody>
                  <a:tcPr/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layer name / output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18-layer 34-layer 50-layer 101-layer 152-layer</a:t>
                      </a:r>
                    </a:p>
                  </a:txBody>
                  <a:tcPr/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conv1 / 112×112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7×7, 64, stride 2</a:t>
                      </a:r>
                    </a:p>
                  </a:txBody>
                  <a:tcPr/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conv2_x / 56×56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3 ×3 max pool, stride 2</a:t>
                      </a:r>
                    </a:p>
                  </a:txBody>
                  <a:tcPr/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3×3,64×23×3,64 / 3×3,64×33×3,64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1×1,643×3,641×1,256; ×3; 1×1,643×3,641×1,256; ×3; 1×1,643×3,641×1,256; ×3</a:t>
                      </a:r>
                    </a:p>
                  </a:txBody>
                  <a:tcPr/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conv3.x / 28×28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3×3,128×23×3,128; 3×3,128×43×3,128; 1×1, 1283×3,1281×1,512; ×4; 1×1, 1283×3,1281×1,512; ×4.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188719" y="5394959"/>
            <a:ext cx="9738360" cy="29260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>
              <a:defRPr sz="819" b="0">
                <a:solidFill>
                  <a:srgbClr val="54635B"/>
                </a:solidFill>
                <a:latin typeface="Aptos"/>
              </a:defRPr>
            </a:pPr>
            <a:r>
              <a:t>Architecture details for different ResNet depths.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plan:slide_10; slide_spec:slide_10; table:Table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M E C H A N I S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Training Details – SGD and Learning Rate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09/29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70432"/>
            <a:ext cx="384048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70432"/>
            <a:ext cx="109728" cy="489204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417320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19072"/>
            <a:ext cx="2971800" cy="11704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900" b="1">
                <a:solidFill>
                  <a:srgbClr val="18221D"/>
                </a:solidFill>
                <a:latin typeface="Aptos"/>
              </a:defRPr>
            </a:pPr>
            <a:r>
              <a:t>SGD with momentum 0.9, weight decay 1e-4, He initialization.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2724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48958"/>
                </a:solidFill>
                <a:latin typeface="Aptos"/>
              </a:defRPr>
            </a:pPr>
            <a:r>
              <a:t>R E A D I N G   N O T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30632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250" b="0">
                <a:solidFill>
                  <a:srgbClr val="54635B"/>
                </a:solidFill>
                <a:latin typeface="Aptos"/>
              </a:defRPr>
            </a:pPr>
            <a:r>
              <a:t>Learning rate reduced at plateaus (approx 30,60,80 epochs). ImageNet training runs 600k.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170432"/>
            <a:ext cx="6748272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417320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B0623E"/>
                </a:solidFill>
                <a:latin typeface="Aptos"/>
              </a:defRPr>
            </a:pPr>
            <a:r>
              <a:t>E V I D E N C E   /   T A B L 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1920239"/>
            <a:ext cx="55321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900" b="1">
                <a:solidFill>
                  <a:srgbClr val="306C8D"/>
                </a:solidFill>
                <a:latin typeface="Aptos"/>
              </a:defRPr>
            </a:pPr>
            <a:r>
              <a:t>Focused table view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349240" y="2221991"/>
          <a:ext cx="5532119" cy="266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278"/>
                <a:gridCol w="3761841"/>
              </a:tblGrid>
              <a:tr h="5321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8221D"/>
                          </a:solidFill>
                          <a:latin typeface="Aptos"/>
                        </a:defRPr>
                      </a:pPr>
                      <a:r>
                        <a:t>Hyperparameter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8221D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5321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SGD with momentum 0.9</a:t>
                      </a:r>
                    </a:p>
                  </a:txBody>
                  <a:tcPr/>
                </a:tc>
              </a:tr>
              <a:tr h="5321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Weight decay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1e-4</a:t>
                      </a:r>
                    </a:p>
                  </a:txBody>
                  <a:tcPr/>
                </a:tc>
              </a:tr>
              <a:tr h="5321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Initial 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0.1</a:t>
                      </a:r>
                    </a:p>
                  </a:txBody>
                  <a:tcPr/>
                </a:tc>
              </a:tr>
              <a:tr h="5321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lr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Divide by 10 at plateaus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349240" y="4965192"/>
            <a:ext cx="5532120" cy="29260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>
              <a:defRPr sz="819" b="0">
                <a:solidFill>
                  <a:srgbClr val="54635B"/>
                </a:solidFill>
                <a:latin typeface="Aptos"/>
              </a:defRPr>
            </a:pPr>
            <a:r>
              <a:t>Key settings for ImageNet and CIFAR-10.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plan:slide_14; slide_spec:slide_14; table:Training Hyperparameters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731520"/>
            <a:ext cx="106070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731520"/>
            <a:ext cx="10607040" cy="164592"/>
          </a:xfrm>
          <a:prstGeom prst="rect">
            <a:avLst/>
          </a:prstGeom>
          <a:solidFill>
            <a:srgbClr val="B0623E"/>
          </a:solidFill>
          <a:ln>
            <a:solidFill>
              <a:srgbClr val="B06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325880"/>
            <a:ext cx="2011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000" b="1">
                <a:solidFill>
                  <a:srgbClr val="B0623E"/>
                </a:solidFill>
                <a:latin typeface="Aptos"/>
              </a:defRPr>
            </a:pPr>
            <a:r>
              <a:t>M O D U L E   0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874519"/>
            <a:ext cx="7955279" cy="59436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3400" b="1">
                <a:solidFill>
                  <a:srgbClr val="18221D"/>
                </a:solidFill>
                <a:latin typeface="Aptos"/>
              </a:defRPr>
            </a:pPr>
            <a:r>
              <a:t>Evidence &amp;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657600"/>
            <a:ext cx="877824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500" b="0">
                <a:solidFill>
                  <a:srgbClr val="54635B"/>
                </a:solidFill>
                <a:latin typeface="Aptos"/>
              </a:defRPr>
            </a:pPr>
            <a:r>
              <a:t>Deep Residual Learning Framework – Overview / Residual Building Block – Two‑Layer Block / Residual Building Block – Bottleneck Three‑Layer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6446520"/>
            <a:ext cx="576072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blind rectangular research board / no protected baseline grammar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25328" y="644652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750" b="0">
                <a:solidFill>
                  <a:srgbClr val="54635B"/>
                </a:solidFill>
                <a:latin typeface="Aptos"/>
              </a:defRPr>
            </a:pPr>
            <a:r>
              <a:t>10/29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E V I D E N C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Deep Residual Learning Framework –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11/29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70432"/>
            <a:ext cx="384048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70432"/>
            <a:ext cx="109728" cy="489204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417320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19072"/>
            <a:ext cx="2971800" cy="11704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900" b="1">
                <a:solidFill>
                  <a:srgbClr val="18221D"/>
                </a:solidFill>
                <a:latin typeface="Aptos"/>
              </a:defRPr>
            </a:pPr>
            <a:r>
              <a:t>Residual formulation with identity shortcuts enables deeper networks.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2724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48958"/>
                </a:solidFill>
                <a:latin typeface="Aptos"/>
              </a:defRPr>
            </a:pPr>
            <a:r>
              <a:t>R E A D I N G   N O T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30632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250" b="0">
                <a:solidFill>
                  <a:srgbClr val="54635B"/>
                </a:solidFill>
                <a:latin typeface="Aptos"/>
              </a:defRPr>
            </a:pPr>
            <a:r>
              <a:t>Stacked layers fit residual function instead of desired mapping. Addition of input.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170432"/>
            <a:ext cx="6748272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417320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B0623E"/>
                </a:solidFill>
                <a:latin typeface="Aptos"/>
              </a:defRPr>
            </a:pPr>
            <a:r>
              <a:t>E V I D E N C E   /   F I G U R E</a:t>
            </a:r>
          </a:p>
        </p:txBody>
      </p:sp>
      <p:pic>
        <p:nvPicPr>
          <p:cNvPr id="23" name="Picture 22" descr="272d73bbad5a1af92890c2ff7fd42c6829551fa6bab907d9cc8d676ff22b1eb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306" y="1892807"/>
            <a:ext cx="5585987" cy="311810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94959" y="5120640"/>
            <a:ext cx="54406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>
              <a:defRPr sz="850" b="0">
                <a:solidFill>
                  <a:srgbClr val="54635B"/>
                </a:solidFill>
                <a:latin typeface="Aptos"/>
              </a:defRPr>
            </a:pPr>
            <a:r>
              <a:t>Residual learning: a building block with identity shortcut.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plan:slide_05; slide_spec:slide_05; figure:Figure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E V I D E N C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Residual Building Block – Two‑Layer Block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12/29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33856"/>
            <a:ext cx="108813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33856"/>
            <a:ext cx="109728" cy="14173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1307592"/>
            <a:ext cx="82296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0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536192"/>
            <a:ext cx="388620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Simple two-layer block used in ResNet-18/34.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517904"/>
            <a:ext cx="5669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50" b="0">
                <a:solidFill>
                  <a:srgbClr val="54635B"/>
                </a:solidFill>
                <a:latin typeface="Aptos"/>
              </a:defRPr>
            </a:pPr>
            <a:r>
              <a:t>Block: Conv3x3-BN-ReLU-Conv3x3-BN plus identity shortcut. Identity shortcut adds no parameters or computational overhead.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788920"/>
            <a:ext cx="10881360" cy="3273552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2990088"/>
            <a:ext cx="237744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00" b="1">
                <a:solidFill>
                  <a:srgbClr val="B0623E"/>
                </a:solidFill>
                <a:latin typeface="Aptos"/>
              </a:defRPr>
            </a:pPr>
            <a:r>
              <a:t>E V I D E N C E   /   F I G U R E</a:t>
            </a:r>
          </a:p>
        </p:txBody>
      </p:sp>
      <p:pic>
        <p:nvPicPr>
          <p:cNvPr id="22" name="Picture 21" descr="3ce3718df9dd5814f24c1b4359adeb57a598e42f5fd0651cec61697d4de079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512" y="3236976"/>
            <a:ext cx="6020775" cy="21579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4440" y="5504688"/>
            <a:ext cx="9646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>
              <a:defRPr sz="850" b="0">
                <a:solidFill>
                  <a:srgbClr val="54635B"/>
                </a:solidFill>
                <a:latin typeface="Aptos"/>
              </a:defRPr>
            </a:pPr>
            <a:r>
              <a:t>Left: two-layer building block for ResNet-34.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plan:slide_06; slide_spec:slide_06; figure:Figure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E V I D E N C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Residual Building Block – Bottleneck Three‑Layer Block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13/29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33856"/>
            <a:ext cx="108813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33856"/>
            <a:ext cx="109728" cy="14173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1307592"/>
            <a:ext cx="82296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0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536192"/>
            <a:ext cx="388620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Bottleneck block reduces parameters for deeper nets.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517904"/>
            <a:ext cx="5669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50" b="0">
                <a:solidFill>
                  <a:srgbClr val="54635B"/>
                </a:solidFill>
                <a:latin typeface="Aptos"/>
              </a:defRPr>
            </a:pPr>
            <a:r>
              <a:t>First 1x1 reduces channels, 3x3 operates, last 1x1 restores. Reduces computation compared to two 3x3 layers.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788920"/>
            <a:ext cx="10881360" cy="3273552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2990088"/>
            <a:ext cx="237744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00" b="1">
                <a:solidFill>
                  <a:srgbClr val="B0623E"/>
                </a:solidFill>
                <a:latin typeface="Aptos"/>
              </a:defRPr>
            </a:pPr>
            <a:r>
              <a:t>E V I D E N C E   /   F I G U R E</a:t>
            </a:r>
          </a:p>
        </p:txBody>
      </p:sp>
      <p:pic>
        <p:nvPicPr>
          <p:cNvPr id="22" name="Picture 21" descr="3ce3718df9dd5814f24c1b4359adeb57a598e42f5fd0651cec61697d4de079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512" y="3236976"/>
            <a:ext cx="6020775" cy="21579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4440" y="5504688"/>
            <a:ext cx="9646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>
              <a:defRPr sz="850" b="0">
                <a:solidFill>
                  <a:srgbClr val="54635B"/>
                </a:solidFill>
                <a:latin typeface="Aptos"/>
              </a:defRPr>
            </a:pPr>
            <a:r>
              <a:t>Right: bottleneck building block for ResNet-50/101/152.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plan:slide_07; slide_spec:slide_07; figure:Figure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E V I D E N C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Shortcut Connection Variants (Options A, B, 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14/29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70432"/>
            <a:ext cx="384048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70432"/>
            <a:ext cx="109728" cy="489204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417320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19072"/>
            <a:ext cx="2971800" cy="11704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900" b="1">
                <a:solidFill>
                  <a:srgbClr val="18221D"/>
                </a:solidFill>
                <a:latin typeface="Aptos"/>
              </a:defRPr>
            </a:pPr>
            <a:r>
              <a:t>Projection shortcuts (Option B) used for deeper models.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2724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48958"/>
                </a:solidFill>
                <a:latin typeface="Aptos"/>
              </a:defRPr>
            </a:pPr>
            <a:r>
              <a:t>R E A D I N G   N O T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30632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250" b="0">
                <a:solidFill>
                  <a:srgbClr val="54635B"/>
                </a:solidFill>
                <a:latin typeface="Aptos"/>
              </a:defRPr>
            </a:pPr>
            <a:r>
              <a:t>Projection only when dimensions differ Projection shortcuts (Option B) used for deeper.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170432"/>
            <a:ext cx="6748272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417320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B0623E"/>
                </a:solidFill>
                <a:latin typeface="Aptos"/>
              </a:defRPr>
            </a:pPr>
            <a:r>
              <a:t>E V I D E N C E   /   T A B L 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1920239"/>
            <a:ext cx="55321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900" b="1">
                <a:solidFill>
                  <a:srgbClr val="306C8D"/>
                </a:solidFill>
                <a:latin typeface="Aptos"/>
              </a:defRPr>
            </a:pPr>
            <a:r>
              <a:t>Focused table view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349240" y="2221991"/>
          <a:ext cx="5532120" cy="266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665225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8221D"/>
                          </a:solidFill>
                          <a:latin typeface="Aptos"/>
                        </a:defRPr>
                      </a:pPr>
                      <a:r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8221D"/>
                          </a:solidFill>
                          <a:latin typeface="Aptos"/>
                        </a:defRPr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8221D"/>
                          </a:solidFill>
                          <a:latin typeface="Aptos"/>
                        </a:defRPr>
                      </a:pPr>
                      <a:r>
                        <a:t>Top-1 error (34-layer)</a:t>
                      </a:r>
                    </a:p>
                  </a:txBody>
                  <a:tcPr/>
                </a:tc>
              </a:tr>
              <a:tr h="665225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Identity zero-padding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25.03%</a:t>
                      </a:r>
                    </a:p>
                  </a:txBody>
                  <a:tcPr/>
                </a:tc>
              </a:tr>
              <a:tr h="665225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Projection when dims differ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24.52%</a:t>
                      </a:r>
                    </a:p>
                  </a:txBody>
                  <a:tcPr/>
                </a:tc>
              </a:tr>
              <a:tr h="665225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All projections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24.19%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349240" y="4965192"/>
            <a:ext cx="5532120" cy="29260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>
              <a:defRPr sz="819" b="0">
                <a:solidFill>
                  <a:srgbClr val="54635B"/>
                </a:solidFill>
                <a:latin typeface="Aptos"/>
              </a:defRPr>
            </a:pPr>
            <a:r>
              <a:t>Options A, B, C for handling dimension changes.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plan:slide_08; slide_spec:slide_08; table:Shortcut Options Comparison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E V I D E N C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Dimension Matching – Identity vs Projection Shortcuts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15/29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70432"/>
            <a:ext cx="384048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70432"/>
            <a:ext cx="109728" cy="489204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417320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19072"/>
            <a:ext cx="2971800" cy="11704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900" b="1">
                <a:solidFill>
                  <a:srgbClr val="18221D"/>
                </a:solidFill>
                <a:latin typeface="Aptos"/>
              </a:defRPr>
            </a:pPr>
            <a:r>
              <a:t>Identity shortcuts with zero-padding or projection handle dimension changes.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2724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48958"/>
                </a:solidFill>
                <a:latin typeface="Aptos"/>
              </a:defRPr>
            </a:pPr>
            <a:r>
              <a:t>R E A D I N G   N O T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30632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250" b="0">
                <a:solidFill>
                  <a:srgbClr val="54635B"/>
                </a:solidFill>
                <a:latin typeface="Aptos"/>
              </a:defRPr>
            </a:pPr>
            <a:r>
              <a:t>When dimensions differ, pad with zeros to match channels. Projection with stride.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170432"/>
            <a:ext cx="6748272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417320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B0623E"/>
                </a:solidFill>
                <a:latin typeface="Aptos"/>
              </a:defRPr>
            </a:pPr>
            <a:r>
              <a:t>E V I D E N C E   /   M E T R I 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76088" y="2286000"/>
            <a:ext cx="5678424" cy="65836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8968" y="2414016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21.43%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450592"/>
            <a:ext cx="3337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00" b="0">
                <a:solidFill>
                  <a:srgbClr val="54635B"/>
                </a:solidFill>
                <a:latin typeface="Aptos"/>
              </a:defRPr>
            </a:pPr>
            <a:r>
              <a:t>Top-1 error (ResNet-152)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76088" y="3246120"/>
            <a:ext cx="5678424" cy="65836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8968" y="3374136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5.71%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410712"/>
            <a:ext cx="3337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00" b="0">
                <a:solidFill>
                  <a:srgbClr val="54635B"/>
                </a:solidFill>
                <a:latin typeface="Aptos"/>
              </a:defRPr>
            </a:pPr>
            <a:r>
              <a:t>Top-5 error (ResNet-152)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76088" y="4206240"/>
            <a:ext cx="5678424" cy="65836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58968" y="4334255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370831"/>
            <a:ext cx="3337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00" b="0">
                <a:solidFill>
                  <a:srgbClr val="54635B"/>
                </a:solidFill>
                <a:latin typeface="Aptos"/>
              </a:defRPr>
            </a:pPr>
            <a:r>
              <a:t>Parameters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plan:slide_09; slide_spec:slide_09; metric:Dimension Matching 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E V I D E N C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Key Mathematical Formulations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16/29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70432"/>
            <a:ext cx="384048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70432"/>
            <a:ext cx="109728" cy="489204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417320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19072"/>
            <a:ext cx="2971800" cy="11704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900" b="1">
                <a:solidFill>
                  <a:srgbClr val="18221D"/>
                </a:solidFill>
                <a:latin typeface="Aptos"/>
              </a:defRPr>
            </a:pPr>
            <a:r>
              <a:t>Residual learning defined by y = F(x) + 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2724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48958"/>
                </a:solidFill>
                <a:latin typeface="Aptos"/>
              </a:defRPr>
            </a:pPr>
            <a:r>
              <a:t>R E A D I N G   N O T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30632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250" b="0">
                <a:solidFill>
                  <a:srgbClr val="54635B"/>
                </a:solidFill>
                <a:latin typeface="Aptos"/>
              </a:defRPr>
            </a:pPr>
            <a:r>
              <a:t>Element-wise addition of input to residual function output. When dimensions differ, use.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170432"/>
            <a:ext cx="6748272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417320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B0623E"/>
                </a:solidFill>
                <a:latin typeface="Aptos"/>
              </a:defRPr>
            </a:pPr>
            <a:r>
              <a:t>E V I D E N C E   /   M E T R I 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76088" y="2286000"/>
            <a:ext cx="5678424" cy="65836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8968" y="2414016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21.43%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450592"/>
            <a:ext cx="3337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00" b="0">
                <a:solidFill>
                  <a:srgbClr val="54635B"/>
                </a:solidFill>
                <a:latin typeface="Aptos"/>
              </a:defRPr>
            </a:pPr>
            <a:r>
              <a:t>Top-1 error (ResNet-152)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76088" y="3246120"/>
            <a:ext cx="5678424" cy="65836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8968" y="3374136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5.71%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410712"/>
            <a:ext cx="3337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00" b="0">
                <a:solidFill>
                  <a:srgbClr val="54635B"/>
                </a:solidFill>
                <a:latin typeface="Aptos"/>
              </a:defRPr>
            </a:pPr>
            <a:r>
              <a:t>Top-5 error (ResNet-152)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76088" y="4206240"/>
            <a:ext cx="5678424" cy="65836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58968" y="4334255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370831"/>
            <a:ext cx="3337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00" b="0">
                <a:solidFill>
                  <a:srgbClr val="54635B"/>
                </a:solidFill>
                <a:latin typeface="Aptos"/>
              </a:defRPr>
            </a:pPr>
            <a:r>
              <a:t>Parameters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plan:slide_12; slide_spec:slide_12; metric:Key Mathematical Formulations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E V I D E N C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Technical Pipeline – Network Assembly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17/29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70432"/>
            <a:ext cx="640080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70432"/>
            <a:ext cx="109728" cy="489204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417320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19072"/>
            <a:ext cx="5303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900" b="1">
                <a:solidFill>
                  <a:srgbClr val="18221D"/>
                </a:solidFill>
                <a:latin typeface="Aptos"/>
              </a:defRPr>
            </a:pPr>
            <a:r>
              <a:t>ResNet assembled by stacking residual blocks with design rules.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743200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48958"/>
                </a:solidFill>
                <a:latin typeface="Aptos"/>
              </a:defRPr>
            </a:pPr>
            <a:r>
              <a:t>R E A D I N G   N O T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54096"/>
            <a:ext cx="5394960" cy="11430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250" b="0">
                <a:solidFill>
                  <a:srgbClr val="54635B"/>
                </a:solidFill>
                <a:latin typeface="Aptos"/>
              </a:defRPr>
            </a:pPr>
            <a:r>
              <a:t>Two-layer for shallow, bottleneck for deep nets. Same filters per stage ResNet assembled by stacking residual blocks with.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1170432"/>
            <a:ext cx="388620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2" y="1417320"/>
            <a:ext cx="237744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B0623E"/>
                </a:solidFill>
                <a:latin typeface="Aptos"/>
              </a:defRPr>
            </a:pPr>
            <a:r>
              <a:t>E V I D E N C E   /   F I G U R E</a:t>
            </a:r>
          </a:p>
        </p:txBody>
      </p:sp>
      <p:pic>
        <p:nvPicPr>
          <p:cNvPr id="23" name="Picture 22" descr="9e05ffa8b906bbf0dc63f758efed2cd7773c76025ba5b64d8d1373327244ab0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202" y="1892807"/>
            <a:ext cx="1351659" cy="311810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74152" y="5120640"/>
            <a:ext cx="265176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>
              <a:defRPr sz="850" b="0">
                <a:solidFill>
                  <a:srgbClr val="54635B"/>
                </a:solidFill>
                <a:latin typeface="Aptos"/>
              </a:defRPr>
            </a:pPr>
            <a:r>
              <a:t>Example network architectures for ImageNet: VGG-19, plain-34, ResNet-34.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plan:slide_13; slide_spec:slide_13; figure:Figure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E V I D E N C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Data Preprocessing and Augmentation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18/29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70432"/>
            <a:ext cx="384048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70432"/>
            <a:ext cx="109728" cy="489204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417320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19072"/>
            <a:ext cx="2971800" cy="11704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900" b="1">
                <a:solidFill>
                  <a:srgbClr val="18221D"/>
                </a:solidFill>
                <a:latin typeface="Aptos"/>
              </a:defRPr>
            </a:pPr>
            <a:r>
              <a:t>Standard augmentation: random crop, flip, color, mean subtraction.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2724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48958"/>
                </a:solidFill>
                <a:latin typeface="Aptos"/>
              </a:defRPr>
            </a:pPr>
            <a:r>
              <a:t>R E A D I N G   N O T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30632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250" b="0">
                <a:solidFill>
                  <a:srgbClr val="54635B"/>
                </a:solidFill>
                <a:latin typeface="Aptos"/>
              </a:defRPr>
            </a:pPr>
            <a:r>
              <a:t>Randomly sample shorter side in [256,480], then 224x224 crop. Pad to 40x40.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170432"/>
            <a:ext cx="6748272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417320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B0623E"/>
                </a:solidFill>
                <a:latin typeface="Aptos"/>
              </a:defRPr>
            </a:pPr>
            <a:r>
              <a:t>E V I D E N C E   /   M E T R I 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76088" y="2286000"/>
            <a:ext cx="5678424" cy="65836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8968" y="2414016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21.43%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450592"/>
            <a:ext cx="3337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00" b="0">
                <a:solidFill>
                  <a:srgbClr val="54635B"/>
                </a:solidFill>
                <a:latin typeface="Aptos"/>
              </a:defRPr>
            </a:pPr>
            <a:r>
              <a:t>Top-1 error (ResNet-152)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76088" y="3246120"/>
            <a:ext cx="5678424" cy="65836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8968" y="3374136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5.71%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410712"/>
            <a:ext cx="3337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00" b="0">
                <a:solidFill>
                  <a:srgbClr val="54635B"/>
                </a:solidFill>
                <a:latin typeface="Aptos"/>
              </a:defRPr>
            </a:pPr>
            <a:r>
              <a:t>Top-5 error (ResNet-152)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76088" y="4206240"/>
            <a:ext cx="5678424" cy="65836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58968" y="4334255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370831"/>
            <a:ext cx="3337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00" b="0">
                <a:solidFill>
                  <a:srgbClr val="54635B"/>
                </a:solidFill>
                <a:latin typeface="Aptos"/>
              </a:defRPr>
            </a:pPr>
            <a:r>
              <a:t>Parameters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plan:slide_15; slide_spec:slide_15; metric:Data Preprocessing Augmentation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E V I D E N C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Monitoring and Verification – Layer Responses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19/29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70432"/>
            <a:ext cx="384048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70432"/>
            <a:ext cx="109728" cy="489204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417320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19072"/>
            <a:ext cx="2971800" cy="11704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900" b="1">
                <a:solidFill>
                  <a:srgbClr val="18221D"/>
                </a:solidFill>
                <a:latin typeface="Aptos"/>
              </a:defRPr>
            </a:pPr>
            <a:r>
              <a:t>Residual responses are small, confirming easier learning.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2724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48958"/>
                </a:solidFill>
                <a:latin typeface="Aptos"/>
              </a:defRPr>
            </a:pPr>
            <a:r>
              <a:t>R E A D I N G   N O T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30632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250" b="0">
                <a:solidFill>
                  <a:srgbClr val="54635B"/>
                </a:solidFill>
                <a:latin typeface="Aptos"/>
              </a:defRPr>
            </a:pPr>
            <a:r>
              <a:t>For ResNet-20 on CIFAR-10, std ~0.1 for deepest layers. When desired mapping.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170432"/>
            <a:ext cx="6748272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417320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B0623E"/>
                </a:solidFill>
                <a:latin typeface="Aptos"/>
              </a:defRPr>
            </a:pPr>
            <a:r>
              <a:t>E V I D E N C E   /   F I G U R E</a:t>
            </a:r>
          </a:p>
        </p:txBody>
      </p:sp>
      <p:pic>
        <p:nvPicPr>
          <p:cNvPr id="23" name="Picture 22" descr="f029d750292d26c01f623fbd212205c0aff4ca69bf3a12fcd615f6d314d4dec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1937964"/>
            <a:ext cx="5641848" cy="302779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94959" y="5075483"/>
            <a:ext cx="544068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>
              <a:defRPr sz="850" b="0">
                <a:solidFill>
                  <a:srgbClr val="54635B"/>
                </a:solidFill>
                <a:latin typeface="Aptos"/>
              </a:defRPr>
            </a:pPr>
            <a:r>
              <a:t>Standard deviations of layer responses on CIFAR-10, showing small residual values.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plan:slide_16; slide_spec:slide_16; figure:Figure 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E V I D E N C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Testing/Inference for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20/29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70432"/>
            <a:ext cx="384048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70432"/>
            <a:ext cx="109728" cy="489204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417320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19072"/>
            <a:ext cx="2971800" cy="11704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900" b="1">
                <a:solidFill>
                  <a:srgbClr val="18221D"/>
                </a:solidFill>
                <a:latin typeface="Aptos"/>
              </a:defRPr>
            </a:pPr>
            <a:r>
              <a:t>10-crop and multi-scale fully-convolutional evaluation used.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2724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48958"/>
                </a:solidFill>
                <a:latin typeface="Aptos"/>
              </a:defRPr>
            </a:pPr>
            <a:r>
              <a:t>R E A D I N G   N O T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30632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250" b="0">
                <a:solidFill>
                  <a:srgbClr val="54635B"/>
                </a:solidFill>
                <a:latin typeface="Aptos"/>
              </a:defRPr>
            </a:pPr>
            <a:r>
              <a:t>Four corners and center crop plus flips, average softmax. Fully-convolutional at scales.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170432"/>
            <a:ext cx="6748272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417320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B0623E"/>
                </a:solidFill>
                <a:latin typeface="Aptos"/>
              </a:defRPr>
            </a:pPr>
            <a:r>
              <a:t>E V I D E N C E   /   M E T R I 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76088" y="2286000"/>
            <a:ext cx="5678424" cy="65836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8968" y="2414016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21.43%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450592"/>
            <a:ext cx="3337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00" b="0">
                <a:solidFill>
                  <a:srgbClr val="54635B"/>
                </a:solidFill>
                <a:latin typeface="Aptos"/>
              </a:defRPr>
            </a:pPr>
            <a:r>
              <a:t>Top-1 error (ResNet-152)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76088" y="3246120"/>
            <a:ext cx="5678424" cy="65836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8968" y="3374136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5.71%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410712"/>
            <a:ext cx="3337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00" b="0">
                <a:solidFill>
                  <a:srgbClr val="54635B"/>
                </a:solidFill>
                <a:latin typeface="Aptos"/>
              </a:defRPr>
            </a:pPr>
            <a:r>
              <a:t>Top-5 error (ResNet-152)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76088" y="4206240"/>
            <a:ext cx="5678424" cy="65836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58968" y="4334255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370831"/>
            <a:ext cx="3337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00" b="0">
                <a:solidFill>
                  <a:srgbClr val="54635B"/>
                </a:solidFill>
                <a:latin typeface="Aptos"/>
              </a:defRPr>
            </a:pPr>
            <a:r>
              <a:t>Parameters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plan:slide_17; slide_spec:slide_17; metric:Benchmark score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E V I D E N C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ImageNet Classification Results – Plain vs ResNet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21/29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33856"/>
            <a:ext cx="108813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33856"/>
            <a:ext cx="109728" cy="14173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1307592"/>
            <a:ext cx="82296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0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536192"/>
            <a:ext cx="388620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ResNet eliminates degradation; deeper nets improve accuracy.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517904"/>
            <a:ext cx="5669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50" b="0">
                <a:solidFill>
                  <a:srgbClr val="54635B"/>
                </a:solidFill>
                <a:latin typeface="Aptos"/>
              </a:defRPr>
            </a:pPr>
            <a:r>
              <a:t>Top-1 error: 25.03% vs 28.54% (Table ResNet eliminates degradation; deeper nets improve accuracy. ResNet-152 achieves 21.43%.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788920"/>
            <a:ext cx="10881360" cy="3273552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2990088"/>
            <a:ext cx="237744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00" b="1">
                <a:solidFill>
                  <a:srgbClr val="B0623E"/>
                </a:solidFill>
                <a:latin typeface="Aptos"/>
              </a:defRPr>
            </a:pPr>
            <a:r>
              <a:t>E V I D E N C E   /   F I G U R E</a:t>
            </a:r>
          </a:p>
        </p:txBody>
      </p:sp>
      <p:pic>
        <p:nvPicPr>
          <p:cNvPr id="22" name="Picture 21" descr="aafb758baa1086eb53e484b6415d739eb4653038ab802ee4101342b176788ac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83" y="3236976"/>
            <a:ext cx="6716232" cy="21579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4440" y="5504688"/>
            <a:ext cx="9646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>
              <a:defRPr sz="850" b="0">
                <a:solidFill>
                  <a:srgbClr val="54635B"/>
                </a:solidFill>
                <a:latin typeface="Aptos"/>
              </a:defRPr>
            </a:pPr>
            <a:r>
              <a:t>Training curves on ImageNet: plain vs ResNet.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plan:slide_19; slide_spec:slide_19; figure:Figure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E V I D E N C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CIFAR-10 Classification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22/29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33856"/>
            <a:ext cx="108813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33856"/>
            <a:ext cx="109728" cy="14173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1307592"/>
            <a:ext cx="82296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0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536192"/>
            <a:ext cx="388620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ResNet-110 achieves state-of-the-art 6.43% error.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517904"/>
            <a:ext cx="5669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50" b="0">
                <a:solidFill>
                  <a:srgbClr val="54635B"/>
                </a:solidFill>
                <a:latin typeface="Aptos"/>
              </a:defRPr>
            </a:pPr>
            <a:r>
              <a:t>6.43% test error on CIFAR-10 with data augmentation. Residual formulation crucial for training deep nets 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788920"/>
            <a:ext cx="10881360" cy="3273552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2990088"/>
            <a:ext cx="237744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00" b="1">
                <a:solidFill>
                  <a:srgbClr val="B0623E"/>
                </a:solidFill>
                <a:latin typeface="Aptos"/>
              </a:defRPr>
            </a:pPr>
            <a:r>
              <a:t>E V I D E N C E   /   F I G U R E</a:t>
            </a:r>
          </a:p>
        </p:txBody>
      </p:sp>
      <p:pic>
        <p:nvPicPr>
          <p:cNvPr id="22" name="Picture 21" descr="7aa38fa61865d6c8fa39c332c76e0f404e77824ae28a66f13b72c108a7bb65c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436" y="3236976"/>
            <a:ext cx="8448926" cy="21579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4440" y="5504688"/>
            <a:ext cx="9646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>
              <a:defRPr sz="850" b="0">
                <a:solidFill>
                  <a:srgbClr val="54635B"/>
                </a:solidFill>
                <a:latin typeface="Aptos"/>
              </a:defRPr>
            </a:pPr>
            <a:r>
              <a:t>Training curves on CIFAR-10 for plain and ResNet.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plan:slide_20; slide_spec:slide_20; figure:Figure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E V I D E N C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Object Detection Results on PASCAL VOC and 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23/29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70432"/>
            <a:ext cx="384048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70432"/>
            <a:ext cx="109728" cy="489204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417320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19072"/>
            <a:ext cx="2971800" cy="11704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900" b="1">
                <a:solidFill>
                  <a:srgbClr val="18221D"/>
                </a:solidFill>
                <a:latin typeface="Aptos"/>
              </a:defRPr>
            </a:pPr>
            <a:r>
              <a:t>ResNet-101 backbone improves detection mAP by 3-7%.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2724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48958"/>
                </a:solidFill>
                <a:latin typeface="Aptos"/>
              </a:defRPr>
            </a:pPr>
            <a:r>
              <a:t>R E A D I N G   N O T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30632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250" b="0">
                <a:solidFill>
                  <a:srgbClr val="54635B"/>
                </a:solidFill>
                <a:latin typeface="Aptos"/>
              </a:defRPr>
            </a:pPr>
            <a:r>
              <a:t>Baseline Faster R-CNN with ResNet-101 vs 73.2% VGG-16. Baseline, with refinements reaches.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170432"/>
            <a:ext cx="6748272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417320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B0623E"/>
                </a:solidFill>
                <a:latin typeface="Aptos"/>
              </a:defRPr>
            </a:pPr>
            <a:r>
              <a:t>E V I D E N C E   /   T A B L 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1920239"/>
            <a:ext cx="55321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900" b="1">
                <a:solidFill>
                  <a:srgbClr val="306C8D"/>
                </a:solidFill>
                <a:latin typeface="Aptos"/>
              </a:defRPr>
            </a:pPr>
            <a:r>
              <a:t>Focused table view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349240" y="2221991"/>
          <a:ext cx="5532120" cy="266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665225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8221D"/>
                          </a:solidFill>
                          <a:latin typeface="Aptos"/>
                        </a:defRPr>
                      </a:pPr>
                      <a:r>
                        <a:t>training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8221D"/>
                          </a:solidFill>
                          <a:latin typeface="Aptos"/>
                        </a:defRPr>
                      </a:pPr>
                      <a:r>
                        <a:t>07+12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8221D"/>
                          </a:solidFill>
                          <a:latin typeface="Aptos"/>
                        </a:defRPr>
                      </a:pPr>
                      <a:r>
                        <a:t>07++12</a:t>
                      </a:r>
                    </a:p>
                  </a:txBody>
                  <a:tcPr/>
                </a:tc>
              </a:tr>
              <a:tr h="665225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test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VOC 07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VOC 12 test</a:t>
                      </a:r>
                    </a:p>
                  </a:txBody>
                  <a:tcPr/>
                </a:tc>
              </a:tr>
              <a:tr h="665225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VGG-16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73.2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70.4</a:t>
                      </a:r>
                    </a:p>
                  </a:txBody>
                  <a:tcPr/>
                </a:tc>
              </a:tr>
              <a:tr h="665225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ResNet-101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76.4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73.8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349240" y="4965192"/>
            <a:ext cx="5532120" cy="29260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>
              <a:defRPr sz="819" b="0">
                <a:solidFill>
                  <a:srgbClr val="54635B"/>
                </a:solidFill>
                <a:latin typeface="Aptos"/>
              </a:defRPr>
            </a:pPr>
            <a:r>
              <a:t>Baseline Faster R-CNN mAP on PASCAL VOC.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plan:slide_21; slide_spec:slide_21; table:Table 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E V I D E N C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Localization Results on ImageNet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24/29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70432"/>
            <a:ext cx="384048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70432"/>
            <a:ext cx="109728" cy="489204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417320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19072"/>
            <a:ext cx="2971800" cy="11704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900" b="1">
                <a:solidFill>
                  <a:srgbClr val="18221D"/>
                </a:solidFill>
                <a:latin typeface="Aptos"/>
              </a:defRPr>
            </a:pPr>
            <a:r>
              <a:t>ResNet reduces localization error to 9.0% test (from 25.3% VGG).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2724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48958"/>
                </a:solidFill>
                <a:latin typeface="Aptos"/>
              </a:defRPr>
            </a:pPr>
            <a:r>
              <a:t>R E A D I N G   N O T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30632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250" b="0">
                <a:solidFill>
                  <a:srgbClr val="54635B"/>
                </a:solidFill>
                <a:latin typeface="Aptos"/>
              </a:defRPr>
            </a:pPr>
            <a:r>
              <a:t>Single ResNet-101 with dense testing on validation. RPN + RCNN refinement 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170432"/>
            <a:ext cx="6748272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417320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B0623E"/>
                </a:solidFill>
                <a:latin typeface="Aptos"/>
              </a:defRPr>
            </a:pPr>
            <a:r>
              <a:t>E V I D E N C E   /   T A B L 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1920239"/>
            <a:ext cx="55321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900" b="1">
                <a:solidFill>
                  <a:srgbClr val="306C8D"/>
                </a:solidFill>
                <a:latin typeface="Aptos"/>
              </a:defRPr>
            </a:pPr>
            <a:r>
              <a:t>Focused table view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349240" y="2221991"/>
          <a:ext cx="5532120" cy="2660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020"/>
                <a:gridCol w="922020"/>
                <a:gridCol w="922020"/>
                <a:gridCol w="922020"/>
                <a:gridCol w="922020"/>
                <a:gridCol w="922020"/>
              </a:tblGrid>
              <a:tr h="443483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8221D"/>
                          </a:solidFill>
                          <a:latin typeface="Aptos"/>
                        </a:defRPr>
                      </a:pPr>
                      <a:r>
                        <a:t>LOC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8221D"/>
                          </a:solidFill>
                          <a:latin typeface="Aptos"/>
                        </a:defRPr>
                      </a:pPr>
                      <a:r>
                        <a:t>LOC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8221D"/>
                          </a:solidFill>
                          <a:latin typeface="Aptos"/>
                        </a:defRPr>
                      </a:pPr>
                      <a: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8221D"/>
                          </a:solidFill>
                          <a:latin typeface="Aptos"/>
                        </a:defRPr>
                      </a:pPr>
                      <a:r>
                        <a:t>LOC error on GT CLS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8221D"/>
                          </a:solidFill>
                          <a:latin typeface="Aptos"/>
                        </a:defRPr>
                      </a:pPr>
                      <a:r>
                        <a:t>classifi cation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8221D"/>
                          </a:solidFill>
                          <a:latin typeface="Aptos"/>
                        </a:defRPr>
                      </a:pPr>
                      <a:r>
                        <a:t>top-5 LOC error on predicted CLS</a:t>
                      </a:r>
                    </a:p>
                  </a:txBody>
                  <a:tcPr/>
                </a:tc>
              </a:tr>
              <a:tr h="443483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VGG's [41]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VGG-16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1-crop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33.1 [41]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</a:p>
                  </a:txBody>
                  <a:tcPr/>
                </a:tc>
              </a:tr>
              <a:tr h="443483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RPN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ResNet-101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1-crop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13.3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</a:p>
                  </a:txBody>
                  <a:tcPr/>
                </a:tc>
              </a:tr>
              <a:tr h="443483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RPN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ResNet-101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11.7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</a:p>
                  </a:txBody>
                  <a:tcPr/>
                </a:tc>
              </a:tr>
              <a:tr h="443483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RPN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ResNet-101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ResNet-101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14.4</a:t>
                      </a:r>
                    </a:p>
                  </a:txBody>
                  <a:tcPr/>
                </a:tc>
              </a:tr>
              <a:tr h="443483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RPN+RCNN|id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ResNet-101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ResNet-101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54635B"/>
                          </a:solidFill>
                          <a:latin typeface="Aptos"/>
                        </a:defRPr>
                      </a:pPr>
                      <a:r>
                        <a:t>10.6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349240" y="4965192"/>
            <a:ext cx="5532120" cy="29260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>
              <a:defRPr sz="819" b="0">
                <a:solidFill>
                  <a:srgbClr val="54635B"/>
                </a:solidFill>
                <a:latin typeface="Aptos"/>
              </a:defRPr>
            </a:pPr>
            <a:r>
              <a:t>Large margin improvement in localization error.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plan:slide_22; slide_spec:slide_22; table:Table 13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731520"/>
            <a:ext cx="106070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731520"/>
            <a:ext cx="10607040" cy="164592"/>
          </a:xfrm>
          <a:prstGeom prst="rect">
            <a:avLst/>
          </a:prstGeom>
          <a:solidFill>
            <a:srgbClr val="AD9948"/>
          </a:solidFill>
          <a:ln>
            <a:solidFill>
              <a:srgbClr val="AD9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325880"/>
            <a:ext cx="2011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000" b="1">
                <a:solidFill>
                  <a:srgbClr val="AD9948"/>
                </a:solidFill>
                <a:latin typeface="Aptos"/>
              </a:defRPr>
            </a:pPr>
            <a:r>
              <a:t>M O D U L E   0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874519"/>
            <a:ext cx="7955279" cy="59436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3400" b="1">
                <a:solidFill>
                  <a:srgbClr val="18221D"/>
                </a:solidFill>
                <a:latin typeface="Aptos"/>
              </a:defRPr>
            </a:pPr>
            <a:r>
              <a:t>Implications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657600"/>
            <a:ext cx="877824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500" b="0">
                <a:solidFill>
                  <a:srgbClr val="54635B"/>
                </a:solidFill>
                <a:latin typeface="Aptos"/>
              </a:defRPr>
            </a:pPr>
            <a:r>
              <a:t>Deep Residual Learning for Image Recognition / Normalization, Nonlinearities, and No Gating / Adaptation for Downstream Tasks – Detection/Localization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6446520"/>
            <a:ext cx="576072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blind rectangular research board / no protected baseline grammar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25328" y="644652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750" b="0">
                <a:solidFill>
                  <a:srgbClr val="54635B"/>
                </a:solidFill>
                <a:latin typeface="Aptos"/>
              </a:defRPr>
            </a:pPr>
            <a:r>
              <a:t>25/29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I M P L I C A T I O N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Deep Residual Learning for Image Recognition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26/29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33856"/>
            <a:ext cx="108813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33856"/>
            <a:ext cx="109728" cy="14173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1307592"/>
            <a:ext cx="82296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0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536192"/>
            <a:ext cx="388620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800" b="1">
                <a:solidFill>
                  <a:srgbClr val="18221D"/>
                </a:solidFill>
                <a:latin typeface="Aptos"/>
              </a:defRPr>
            </a:pPr>
            <a:r>
              <a:t>ResNet enables training of very deep networks for image.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517904"/>
            <a:ext cx="5669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150" b="0">
                <a:solidFill>
                  <a:srgbClr val="54635B"/>
                </a:solidFill>
                <a:latin typeface="Aptos"/>
              </a:defRPr>
            </a:pPr>
            <a:r>
              <a:t>Reformulates layers as residual functions to ease optimization. 152-layer ResNet achieves 21.43% top-1 error on ImageNet.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788920"/>
            <a:ext cx="10881360" cy="3273552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2990088"/>
            <a:ext cx="237744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00" b="1">
                <a:solidFill>
                  <a:srgbClr val="B0623E"/>
                </a:solidFill>
                <a:latin typeface="Aptos"/>
              </a:defRPr>
            </a:pPr>
            <a:r>
              <a:t>E V I D E N C E   /   F I G U R E</a:t>
            </a:r>
          </a:p>
        </p:txBody>
      </p:sp>
      <p:pic>
        <p:nvPicPr>
          <p:cNvPr id="22" name="Picture 21" descr="193c2eb397353028411168dff529d93fab19c19dce3063761316f1dfb1d5a2c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061" y="3236976"/>
            <a:ext cx="6339677" cy="21579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4440" y="5504688"/>
            <a:ext cx="9646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>
              <a:defRPr sz="850" b="0">
                <a:solidFill>
                  <a:srgbClr val="54635B"/>
                </a:solidFill>
                <a:latin typeface="Aptos"/>
              </a:defRPr>
            </a:pPr>
            <a:r>
              <a:t>Training error (left) and test error (right) on CIFAR-10 with 20-layer and 56-layer “plain” networks. The deeper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plan:slide_01; slide_spec:slide_01; figure:Figure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I M P L I C A T I O N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Normalization, Nonlinearities, and No Gating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27/29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70432"/>
            <a:ext cx="384048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70432"/>
            <a:ext cx="109728" cy="489204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417320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19072"/>
            <a:ext cx="2971800" cy="11704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900" b="1">
                <a:solidFill>
                  <a:srgbClr val="18221D"/>
                </a:solidFill>
                <a:latin typeface="Aptos"/>
              </a:defRPr>
            </a:pPr>
            <a:r>
              <a:t>Identity shortcuts ensure gradient flow without gating.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2724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48958"/>
                </a:solidFill>
                <a:latin typeface="Aptos"/>
              </a:defRPr>
            </a:pPr>
            <a:r>
              <a:t>R E A D I N G   N O T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30632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250" b="0">
                <a:solidFill>
                  <a:srgbClr val="54635B"/>
                </a:solidFill>
                <a:latin typeface="Aptos"/>
              </a:defRPr>
            </a:pPr>
            <a:r>
              <a:t>Batch normalization applied before ReLU activation. Nonlinearity applied after F(x)+x, not before..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170432"/>
            <a:ext cx="6748272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417320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B0623E"/>
                </a:solidFill>
                <a:latin typeface="Aptos"/>
              </a:defRPr>
            </a:pPr>
            <a:r>
              <a:t>E V I D E N C E   /   T E X T _ E V I D E N C 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76088" y="2313432"/>
            <a:ext cx="5678424" cy="65836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76088" y="2313432"/>
            <a:ext cx="73152" cy="658368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13831" y="2404872"/>
            <a:ext cx="5303520" cy="4754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rmAutofit/>
          </a:bodyPr>
          <a:lstStyle/>
          <a:p>
            <a:pPr>
              <a:defRPr sz="1220" b="1">
                <a:solidFill>
                  <a:srgbClr val="18221D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76088" y="3200400"/>
            <a:ext cx="5678424" cy="877824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76088" y="3200400"/>
            <a:ext cx="73152" cy="877824"/>
          </a:xfrm>
          <a:prstGeom prst="rect">
            <a:avLst/>
          </a:prstGeom>
          <a:solidFill>
            <a:srgbClr val="348958"/>
          </a:solidFill>
          <a:ln>
            <a:solidFill>
              <a:srgbClr val="34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13831" y="3291840"/>
            <a:ext cx="5303520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rmAutofit/>
          </a:bodyPr>
          <a:lstStyle/>
          <a:p>
            <a:pPr>
              <a:defRPr sz="1080" b="0">
                <a:solidFill>
                  <a:srgbClr val="18221D"/>
                </a:solidFill>
                <a:latin typeface="Aptos"/>
              </a:defRPr>
            </a:pPr>
            <a:r>
              <a:t>Batch Normalization (BN) is applied after each convolution and before activation (ReLU). In each residual block, ReLU is applied after the addition.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76088" y="4306824"/>
            <a:ext cx="5678424" cy="74980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76088" y="4306824"/>
            <a:ext cx="73152" cy="749808"/>
          </a:xfrm>
          <a:prstGeom prst="rect">
            <a:avLst/>
          </a:prstGeom>
          <a:solidFill>
            <a:srgbClr val="B0623E"/>
          </a:solidFill>
          <a:ln>
            <a:solidFill>
              <a:srgbClr val="B06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13831" y="4398264"/>
            <a:ext cx="5303520" cy="566927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rmAutofit/>
          </a:bodyPr>
          <a:lstStyle/>
          <a:p>
            <a:pPr>
              <a:defRPr sz="1080" b="0">
                <a:solidFill>
                  <a:srgbClr val="18221D"/>
                </a:solidFill>
                <a:latin typeface="Aptos"/>
              </a:defRPr>
            </a:pPr>
            <a:r>
              <a:t>Evidence is preserved from this run's fresh parse checkpoints.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plan:slide_11; slide_spec:slide_11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"/>
            <a:ext cx="237744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I M P L I C A T I O N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768096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2000" b="1">
                <a:solidFill>
                  <a:srgbClr val="18221D"/>
                </a:solidFill>
                <a:latin typeface="Aptos"/>
              </a:defRPr>
            </a:pPr>
            <a:r>
              <a:t>Adaptation for Downstream Tasks – Detection/Localization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29768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850" b="0">
                <a:solidFill>
                  <a:srgbClr val="54635B"/>
                </a:solidFill>
                <a:latin typeface="Aptos"/>
              </a:defRPr>
            </a:pPr>
            <a:r>
              <a:t>28/29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70432"/>
            <a:ext cx="384048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170432"/>
            <a:ext cx="109728" cy="489204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417320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06C8D"/>
                </a:solidFill>
                <a:latin typeface="Aptos"/>
              </a:defRPr>
            </a:pPr>
            <a:r>
              <a:t>C L A I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19072"/>
            <a:ext cx="2971800" cy="11704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900" b="1">
                <a:solidFill>
                  <a:srgbClr val="18221D"/>
                </a:solidFill>
                <a:latin typeface="Aptos"/>
              </a:defRPr>
            </a:pPr>
            <a:r>
              <a:t>ResNet backbone for Faster R-CNN with frozen BN.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2724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348958"/>
                </a:solidFill>
                <a:latin typeface="Aptos"/>
              </a:defRPr>
            </a:pPr>
            <a:r>
              <a:t>R E A D I N G   N O T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30632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250" b="0">
                <a:solidFill>
                  <a:srgbClr val="54635B"/>
                </a:solidFill>
                <a:latin typeface="Aptos"/>
              </a:defRPr>
            </a:pPr>
            <a:r>
              <a:t>Total stride ≤16 ResNet backbone for Faster R-CNN with frozen BN. No.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170432"/>
            <a:ext cx="6748272" cy="489204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417320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850" b="1">
                <a:solidFill>
                  <a:srgbClr val="B0623E"/>
                </a:solidFill>
                <a:latin typeface="Aptos"/>
              </a:defRPr>
            </a:pPr>
            <a:r>
              <a:t>E V I D E N C E   /   T E X T _ E V I D E N C 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76088" y="2313432"/>
            <a:ext cx="5678424" cy="65836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76088" y="2313432"/>
            <a:ext cx="73152" cy="658368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13831" y="2404872"/>
            <a:ext cx="5303520" cy="4754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rmAutofit/>
          </a:bodyPr>
          <a:lstStyle/>
          <a:p>
            <a:pPr>
              <a:defRPr sz="1220" b="1">
                <a:solidFill>
                  <a:srgbClr val="18221D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76088" y="3200400"/>
            <a:ext cx="5678424" cy="877824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76088" y="3200400"/>
            <a:ext cx="73152" cy="877824"/>
          </a:xfrm>
          <a:prstGeom prst="rect">
            <a:avLst/>
          </a:prstGeom>
          <a:solidFill>
            <a:srgbClr val="348958"/>
          </a:solidFill>
          <a:ln>
            <a:solidFill>
              <a:srgbClr val="34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13831" y="3291840"/>
            <a:ext cx="5303520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rmAutofit/>
          </a:bodyPr>
          <a:lstStyle/>
          <a:p>
            <a:pPr>
              <a:defRPr sz="1080" b="0">
                <a:solidFill>
                  <a:srgbClr val="18221D"/>
                </a:solidFill>
                <a:latin typeface="Aptos"/>
              </a:defRPr>
            </a:pPr>
            <a:r>
              <a:t>For object detection and localization, ResNet is adapted as a backbone for Faster R-CNN. The pretrained ImageNet ResNet is used. The shared.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76088" y="4306824"/>
            <a:ext cx="5678424" cy="749808"/>
          </a:xfrm>
          <a:prstGeom prst="rect">
            <a:avLst/>
          </a:prstGeom>
          <a:solidFill>
            <a:srgbClr val="EBF3EC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76088" y="4306824"/>
            <a:ext cx="73152" cy="749808"/>
          </a:xfrm>
          <a:prstGeom prst="rect">
            <a:avLst/>
          </a:prstGeom>
          <a:solidFill>
            <a:srgbClr val="B0623E"/>
          </a:solidFill>
          <a:ln>
            <a:solidFill>
              <a:srgbClr val="B06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13831" y="4398264"/>
            <a:ext cx="5303520" cy="566927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rmAutofit/>
          </a:bodyPr>
          <a:lstStyle/>
          <a:p>
            <a:pPr>
              <a:defRPr sz="1080" b="0">
                <a:solidFill>
                  <a:srgbClr val="18221D"/>
                </a:solidFill>
                <a:latin typeface="Aptos"/>
              </a:defRPr>
            </a:pPr>
            <a:r>
              <a:t>Evidence is preserved from this run's fresh parse checkpoints.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0936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Sources: plan:slide_18; slide_spec:slide_18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>
            <a:solidFill>
              <a:srgbClr val="F5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CFDCD2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6C8D"/>
          </a:solidFill>
          <a:ln>
            <a:solidFill>
              <a:srgbClr val="30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731520"/>
            <a:ext cx="5943600" cy="5486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3400" b="1">
                <a:solidFill>
                  <a:srgbClr val="18221D"/>
                </a:solidFill>
                <a:latin typeface="Aptos"/>
              </a:defRPr>
            </a:pPr>
            <a:r>
              <a:t>Inspection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371600"/>
            <a:ext cx="6858000" cy="36576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400" b="0">
                <a:solidFill>
                  <a:srgbClr val="54635B"/>
                </a:solidFill>
                <a:latin typeface="Aptos"/>
              </a:defRPr>
            </a:pPr>
            <a:r>
              <a:t>The final branch keeps content traceability while avoiding both protected visual grammars.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743200"/>
            <a:ext cx="2880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5" y="2944368"/>
            <a:ext cx="14630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300" b="1">
                <a:solidFill>
                  <a:srgbClr val="306C8D"/>
                </a:solidFill>
                <a:latin typeface="Aptos"/>
              </a:defRPr>
            </a:pPr>
            <a:r>
              <a:t>Parse once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5" y="3273552"/>
            <a:ext cx="228600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050" b="0">
                <a:solidFill>
                  <a:srgbClr val="54635B"/>
                </a:solidFill>
                <a:latin typeface="Aptos"/>
              </a:defRPr>
            </a:pPr>
            <a:r>
              <a:t>Evidence remains linked to parsed checkpoints.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743200"/>
            <a:ext cx="2880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944368"/>
            <a:ext cx="14630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300" b="1">
                <a:solidFill>
                  <a:srgbClr val="348958"/>
                </a:solidFill>
                <a:latin typeface="Aptos"/>
              </a:defRPr>
            </a:pPr>
            <a:r>
              <a:t>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273552"/>
            <a:ext cx="228600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050" b="0">
                <a:solidFill>
                  <a:srgbClr val="54635B"/>
                </a:solidFill>
                <a:latin typeface="Aptos"/>
              </a:defRPr>
            </a:pPr>
            <a:r>
              <a:t>Evidence remains linked to parsed checkpoints.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2743200"/>
            <a:ext cx="2880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0456" y="2944368"/>
            <a:ext cx="146304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300" b="1">
                <a:solidFill>
                  <a:srgbClr val="B0623E"/>
                </a:solidFill>
                <a:latin typeface="Aptos"/>
              </a:defRPr>
            </a:pPr>
            <a:r>
              <a:t>Bounded repair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3273552"/>
            <a:ext cx="228600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1050" b="0">
                <a:solidFill>
                  <a:srgbClr val="54635B"/>
                </a:solidFill>
                <a:latin typeface="Aptos"/>
              </a:defRPr>
            </a:pPr>
            <a:r>
              <a:t>Evidence remains linked to parsed checkpoints.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6446520"/>
            <a:ext cx="576072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>
              <a:defRPr sz="750" b="0">
                <a:solidFill>
                  <a:srgbClr val="54635B"/>
                </a:solidFill>
                <a:latin typeface="Aptos"/>
              </a:defRPr>
            </a:pPr>
            <a:r>
              <a:t>blind rectangular research board / no protected baseline grammar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25328" y="644652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>
              <a:defRPr sz="750" b="0">
                <a:solidFill>
                  <a:srgbClr val="54635B"/>
                </a:solidFill>
                <a:latin typeface="Aptos"/>
              </a:defRPr>
            </a:pPr>
            <a:r>
              <a:t>29/29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