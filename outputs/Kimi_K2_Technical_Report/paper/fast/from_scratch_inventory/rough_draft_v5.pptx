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DB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234440" cy="41148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2F5F5A"/>
                </a:solidFill>
                <a:latin typeface="Aptos"/>
              </a:defRPr>
            </a:pPr>
            <a:r>
              <a:t>A C A D E M I C   P A P E R   R E A D I N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690372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400" b="1">
                <a:solidFill>
                  <a:srgbClr val="1C2936"/>
                </a:solidFill>
                <a:latin typeface="Aptos"/>
              </a:defRPr>
            </a:pPr>
            <a:r>
              <a:t>Kimi K2: Open Agentic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07792"/>
            <a:ext cx="6858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Kimi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01568"/>
            <a:ext cx="65836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F5F5A"/>
                </a:solidFill>
                <a:latin typeface="Aptos"/>
              </a:defRPr>
            </a:pPr>
            <a:r>
              <a:t>A content-first paper reading deck built from existing parsed checkpoints.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913632"/>
            <a:ext cx="62636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Focus: motivation, system design, training recipe, and evaluation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115568"/>
            <a:ext cx="2834640" cy="4681728"/>
          </a:xfrm>
          <a:prstGeom prst="roundRect">
            <a:avLst/>
          </a:prstGeom>
          <a:solidFill>
            <a:srgbClr val="FFFDF8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408176"/>
            <a:ext cx="2322576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P A P E R   H I G H L I G H T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14232" y="1965960"/>
            <a:ext cx="73152" cy="475488"/>
          </a:xfrm>
          <a:prstGeom prst="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7112" y="1920240"/>
            <a:ext cx="21396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C2936"/>
                </a:solidFill>
                <a:latin typeface="Aptos"/>
              </a:defRPr>
            </a:pPr>
            <a:r>
              <a:t>Core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7112" y="2176272"/>
            <a:ext cx="2139696" cy="49377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4F5A61"/>
                </a:solidFill>
                <a:latin typeface="Aptos"/>
              </a:defRPr>
            </a:pPr>
            <a:r>
              <a:t>Kimi K2 achieves open-source SOTA on agentic tasks with 1.04T parameters.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14232" y="3081528"/>
            <a:ext cx="73152" cy="475488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3035808"/>
            <a:ext cx="21396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C2936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3291840"/>
            <a:ext cx="2139696" cy="49377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4F5A61"/>
                </a:solidFill>
                <a:latin typeface="Aptos"/>
              </a:defRPr>
            </a:pPr>
            <a:r>
              <a:t>1.04T total parameters; 32.6B activated per token.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14232" y="4197096"/>
            <a:ext cx="73152" cy="475488"/>
          </a:xfrm>
          <a:prstGeom prst="rect">
            <a:avLst/>
          </a:prstGeom>
          <a:solidFill>
            <a:srgbClr val="B7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4151376"/>
            <a:ext cx="21396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C2936"/>
                </a:solidFill>
                <a:latin typeface="Aptos"/>
              </a:defRPr>
            </a:pPr>
            <a:r>
              <a:t>Design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4407408"/>
            <a:ext cx="2139696" cy="49377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4F5A61"/>
                </a:solidFill>
                <a:latin typeface="Aptos"/>
              </a:defRPr>
            </a:pPr>
            <a:r>
              <a:t>QK-Clip stabilizes Muon training by clamping attention logits at tau = 100.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0899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74706A"/>
                </a:solidFill>
                <a:latin typeface="Aptos"/>
              </a:defRPr>
            </a:pPr>
            <a:r>
              <a:t>Generated from reusable paper-understanding checkpoints; no PDF reparse.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01 / 30  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02 / 30 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3657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000" b="1">
                <a:solidFill>
                  <a:srgbClr val="2F5F5A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75438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000" b="1">
                <a:solidFill>
                  <a:srgbClr val="1C2936"/>
                </a:solidFill>
                <a:latin typeface="Aptos"/>
              </a:defRPr>
            </a:pPr>
            <a:r>
              <a:t>How this paper reading deck is organized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234440"/>
            <a:ext cx="2880360" cy="4480560"/>
          </a:xfrm>
          <a:prstGeom prst="roundRect">
            <a:avLst/>
          </a:prstGeom>
          <a:solidFill>
            <a:srgbClr val="EEE9DE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D E C K   M A 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965960"/>
            <a:ext cx="1188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C2936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148840"/>
            <a:ext cx="1325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content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743200"/>
            <a:ext cx="914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C99A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898648"/>
            <a:ext cx="1371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703320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C2936"/>
                </a:solidFill>
                <a:latin typeface="Aptos"/>
              </a:defRPr>
            </a:pPr>
            <a:r>
              <a:t>Read path</a:t>
            </a:r>
          </a:p>
        </p:txBody>
      </p:sp>
      <p:sp>
        <p:nvSpPr>
          <p:cNvPr id="13" name="Oval 12"/>
          <p:cNvSpPr/>
          <p:nvPr/>
        </p:nvSpPr>
        <p:spPr>
          <a:xfrm>
            <a:off x="8458200" y="4041648"/>
            <a:ext cx="310896" cy="310896"/>
          </a:xfrm>
          <a:prstGeom prst="ellipse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00" b="1">
                <a:solidFill>
                  <a:srgbClr val="FFFDF8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4453128"/>
            <a:ext cx="5943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500" b="0">
                <a:solidFill>
                  <a:srgbClr val="4F5A61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05672" y="4187952"/>
            <a:ext cx="320040" cy="22860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62288" y="4041648"/>
            <a:ext cx="310896" cy="310896"/>
          </a:xfrm>
          <a:prstGeom prst="ellipse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00" b="1">
                <a:solidFill>
                  <a:srgbClr val="FFFDF8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453128"/>
            <a:ext cx="5943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500" b="0">
                <a:solidFill>
                  <a:srgbClr val="4F5A61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59" y="4187952"/>
            <a:ext cx="320040" cy="22860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66376" y="4041648"/>
            <a:ext cx="310896" cy="310896"/>
          </a:xfrm>
          <a:prstGeom prst="ellipse">
            <a:avLst/>
          </a:prstGeom>
          <a:solidFill>
            <a:srgbClr val="B7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00" b="1">
                <a:solidFill>
                  <a:srgbClr val="FFFDF8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4453128"/>
            <a:ext cx="5943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500" b="0">
                <a:solidFill>
                  <a:srgbClr val="4F5A6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13847" y="4187952"/>
            <a:ext cx="320040" cy="22860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70464" y="4041648"/>
            <a:ext cx="310896" cy="310896"/>
          </a:xfrm>
          <a:prstGeom prst="ellipse">
            <a:avLst/>
          </a:prstGeom>
          <a:solidFill>
            <a:srgbClr val="2F5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00" b="1">
                <a:solidFill>
                  <a:srgbClr val="FFFDF8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0736" y="4453128"/>
            <a:ext cx="5943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500" b="0">
                <a:solidFill>
                  <a:srgbClr val="4F5A61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2167127"/>
            <a:ext cx="475488" cy="256032"/>
          </a:xfrm>
          <a:prstGeom prst="round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2189988"/>
            <a:ext cx="384048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1">
                <a:solidFill>
                  <a:srgbClr val="FFFDF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103120"/>
            <a:ext cx="5303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C2936"/>
                </a:solidFill>
                <a:latin typeface="Aptos"/>
              </a:defRPr>
            </a:pPr>
            <a:r>
              <a:t>Motivation &amp; Research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139696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2F5F5A"/>
                </a:solidFill>
                <a:latin typeface="Aptos"/>
              </a:defRPr>
            </a:pPr>
            <a:r>
              <a:t>5 slides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2450591"/>
            <a:ext cx="62636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Kimi K2: Open Agentic Intelligence; Research Problem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2990087"/>
            <a:ext cx="475488" cy="256032"/>
          </a:xfrm>
          <a:prstGeom prst="round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3012948"/>
            <a:ext cx="384048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1">
                <a:solidFill>
                  <a:srgbClr val="FFFDF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926079"/>
            <a:ext cx="5303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C2936"/>
                </a:solidFill>
                <a:latin typeface="Aptos"/>
              </a:defRPr>
            </a:pPr>
            <a:r>
              <a:t>Method &amp; System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962656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2F5F5A"/>
                </a:solidFill>
                <a:latin typeface="Aptos"/>
              </a:defRPr>
            </a:pPr>
            <a:r>
              <a:t>8 slides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273551"/>
            <a:ext cx="62636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Pre-training Stability: QK-Clip; Architecture Design: MoE Sparsity and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3813048"/>
            <a:ext cx="475488" cy="256032"/>
          </a:xfrm>
          <a:prstGeom prst="round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3835907"/>
            <a:ext cx="384048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1">
                <a:solidFill>
                  <a:srgbClr val="FFFDF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749039"/>
            <a:ext cx="5303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C2936"/>
                </a:solidFill>
                <a:latin typeface="Aptos"/>
              </a:defRPr>
            </a:pPr>
            <a:r>
              <a:t>Experiments &amp;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785615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2F5F5A"/>
                </a:solidFill>
                <a:latin typeface="Aptos"/>
              </a:defRPr>
            </a:pPr>
            <a:r>
              <a:t>9 slides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096511"/>
            <a:ext cx="62636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Base Model Evaluation; Instruct Model Main Results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636008"/>
            <a:ext cx="475488" cy="256032"/>
          </a:xfrm>
          <a:prstGeom prst="round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4658868"/>
            <a:ext cx="384048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1">
                <a:solidFill>
                  <a:srgbClr val="FFFDF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4572000"/>
            <a:ext cx="5303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C2936"/>
                </a:solidFill>
                <a:latin typeface="Aptos"/>
              </a:defRPr>
            </a:pPr>
            <a:r>
              <a:t>Summary &amp; Takeaways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608576"/>
            <a:ext cx="914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2F5F5A"/>
                </a:solidFill>
                <a:latin typeface="Aptos"/>
              </a:defRPr>
            </a:pPr>
            <a:r>
              <a:t>1 slides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4919472"/>
            <a:ext cx="6263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Contributions &amp; Key Findings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5806440"/>
            <a:ext cx="1046988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989320"/>
            <a:ext cx="102412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Each module begins with a divider; tables, figures, and metric cards are treated as evidence rather than filler panels.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5230368"/>
            <a:ext cx="11832336" cy="1627632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32918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4B7F78"/>
                </a:solidFill>
                <a:latin typeface="Aptos"/>
              </a:defRPr>
            </a:pPr>
            <a:r>
              <a:t>S E C T I O N   0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77724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400" b="1">
                <a:solidFill>
                  <a:srgbClr val="1C2936"/>
                </a:solidFill>
                <a:latin typeface="Aptos"/>
              </a:defRPr>
            </a:pPr>
            <a:r>
              <a:t>Motivation &amp;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880360"/>
            <a:ext cx="96012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0">
                <a:solidFill>
                  <a:srgbClr val="4F5A61"/>
                </a:solidFill>
                <a:latin typeface="Aptos"/>
              </a:defRPr>
            </a:pPr>
            <a:r>
              <a:t>Kimi K2: Open Agentic Intelligence / Research Problem / Limitations of Existing Methods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66928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C2936"/>
                </a:solidFill>
                <a:latin typeface="Aptos"/>
              </a:defRPr>
            </a:pPr>
            <a:r>
              <a:t>5 content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468112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4B7F78"/>
                </a:solidFill>
                <a:latin typeface="Aptos"/>
              </a:defRPr>
            </a:pPr>
            <a:r>
              <a:t>M o d u l e   c h e c k p o i n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577900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The next pages keep one claim, one support note, and one proof object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03 / 30 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04 / 30 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Kimi K2: Open Agentic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539496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Kimi K2 achieves open-source SOTA on agentic tasks with 1.04T parameters.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063239"/>
            <a:ext cx="4963363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Kimi K2 is a 1.04T MoE model activating 32.6B per token. Perceives, plans, reasons and acts in dynamic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78992"/>
            <a:ext cx="4983480" cy="470916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243584"/>
            <a:ext cx="45720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F I G U R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581912"/>
            <a:ext cx="45720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C2936"/>
                </a:solidFill>
                <a:latin typeface="Aptos"/>
              </a:defRPr>
            </a:pPr>
            <a:r>
              <a:t>Figure 1</a:t>
            </a:r>
          </a:p>
        </p:txBody>
      </p:sp>
      <p:pic>
        <p:nvPicPr>
          <p:cNvPr id="10" name="Picture 9" descr="d3fdd93d217d75f457bc9821365def8136b4dd44471947e5c387415c701a1a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39112"/>
            <a:ext cx="4526280" cy="3035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9400" y="5148072"/>
            <a:ext cx="45262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Kimi K2 main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plan:slide_01; slide_spec:slide_01; figure:Figure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05 / 30 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Research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6400800" cy="132039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Eight key challenges motivated Kimi K2's design from stability to data scarcity.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063239"/>
            <a:ext cx="5888736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Muon optimizer causes exploding attention logits Eight key challenges motivated Kimi K2's design from stability to data scarcity. Limited human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097280"/>
            <a:ext cx="3611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E V I D E N C E   N O T E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463040"/>
            <a:ext cx="3611880" cy="960120"/>
          </a:xfrm>
          <a:prstGeom prst="roundRect">
            <a:avLst/>
          </a:prstGeom>
          <a:solidFill>
            <a:srgbClr val="DBE9E3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463040"/>
            <a:ext cx="54864" cy="960120"/>
          </a:xfrm>
          <a:prstGeom prst="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581912"/>
            <a:ext cx="32826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1856232"/>
            <a:ext cx="328269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The paper addresses the challenge of building an LLM that can perceive, plan, reason, and act in complex.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578608"/>
            <a:ext cx="3611880" cy="960120"/>
          </a:xfrm>
          <a:prstGeom prst="roundRect">
            <a:avLst/>
          </a:prstGeom>
          <a:solidFill>
            <a:srgbClr val="F1E2BC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2578608"/>
            <a:ext cx="54864" cy="960120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697480"/>
            <a:ext cx="32826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Reading note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971800"/>
            <a:ext cx="328269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Muon optimizer causes exploding attention logits Eight key challenges motivated Kimi K2's design from stability to data scarcity.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3694176"/>
            <a:ext cx="3611880" cy="960120"/>
          </a:xfrm>
          <a:prstGeom prst="roundRect">
            <a:avLst/>
          </a:prstGeom>
          <a:solidFill>
            <a:srgbClr val="ECD4CA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694176"/>
            <a:ext cx="54864" cy="960120"/>
          </a:xfrm>
          <a:prstGeom prst="rect">
            <a:avLst/>
          </a:prstGeom>
          <a:solidFill>
            <a:srgbClr val="B7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3813048"/>
            <a:ext cx="32826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Reading note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4087368"/>
            <a:ext cx="328269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Limited human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plan:slide_02; slide_spec:slide_02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06 / 30 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Limitations of Existing Methods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35608"/>
            <a:ext cx="10332720" cy="816559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Existing methods fail on token efficiency, optimizer stability, and architecture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505456"/>
            <a:ext cx="950610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Repeating data causes overfitting Existing methods fail on token efficiency, optimizer stability, and architecture efficiency. Attention logits exceed 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19"/>
            <a:ext cx="101955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E V I D E N C E   M O S A I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5887"/>
            <a:ext cx="10195560" cy="786384"/>
          </a:xfrm>
          <a:prstGeom prst="roundRect">
            <a:avLst/>
          </a:prstGeom>
          <a:solidFill>
            <a:srgbClr val="DBE9E3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75887"/>
            <a:ext cx="54864" cy="786384"/>
          </a:xfrm>
          <a:prstGeom prst="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794759"/>
            <a:ext cx="986637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069079"/>
            <a:ext cx="9866376" cy="3291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Token efficiency and pre-training data: High-quality human data is scarce; naive multi-epoch repetition yields diminishing returns and overfitting..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08576"/>
            <a:ext cx="5024628" cy="667512"/>
          </a:xfrm>
          <a:prstGeom prst="roundRect">
            <a:avLst/>
          </a:prstGeom>
          <a:solidFill>
            <a:srgbClr val="F1E2BC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08576"/>
            <a:ext cx="54864" cy="667512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727448"/>
            <a:ext cx="469544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C2936"/>
                </a:solidFill>
                <a:latin typeface="Aptos"/>
              </a:defRPr>
            </a:pPr>
            <a:r>
              <a:t>Reading note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001768"/>
            <a:ext cx="4695444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4F5A61"/>
                </a:solidFill>
                <a:latin typeface="Aptos"/>
              </a:defRPr>
            </a:pPr>
            <a:r>
              <a:t>Repeating data causes overfitting Existing methods fail on token efficiency, optimizer stability, and architecture efficiency.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8172" y="4608576"/>
            <a:ext cx="5024628" cy="667512"/>
          </a:xfrm>
          <a:prstGeom prst="roundRect">
            <a:avLst/>
          </a:prstGeom>
          <a:solidFill>
            <a:srgbClr val="ECD4CA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8172" y="4608576"/>
            <a:ext cx="54864" cy="667512"/>
          </a:xfrm>
          <a:prstGeom prst="rect">
            <a:avLst/>
          </a:prstGeom>
          <a:solidFill>
            <a:srgbClr val="B7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2764" y="4727448"/>
            <a:ext cx="469544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C2936"/>
                </a:solidFill>
                <a:latin typeface="Aptos"/>
              </a:defRPr>
            </a:pPr>
            <a:r>
              <a:t>Reading note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2764" y="5001768"/>
            <a:ext cx="4695444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4F5A61"/>
                </a:solidFill>
                <a:latin typeface="Aptos"/>
              </a:defRPr>
            </a:pPr>
            <a:r>
              <a:t>Attention logits exceed 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plan:slide_03; slide_spec:slide_03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07 / 30 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Limitations of Existing Methods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9966960" cy="107716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700" b="1">
                <a:solidFill>
                  <a:srgbClr val="1C2936"/>
                </a:solidFill>
                <a:latin typeface="Aptos"/>
              </a:defRPr>
            </a:pPr>
            <a:r>
              <a:t>Synthetic data fidelity, reward design, and safety evaluation remain unsolved.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39"/>
            <a:ext cx="9169603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Real execution costly Synthetic data fidelity, reward design, and safety evaluation remain unsolved. Verifiable rewards missing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663440"/>
            <a:ext cx="10698480" cy="987552"/>
          </a:xfrm>
          <a:prstGeom prst="roundRect">
            <a:avLst/>
          </a:prstGeom>
          <a:solidFill>
            <a:srgbClr val="EEE9DE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828031"/>
            <a:ext cx="1645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T E X T _ E V I D E N C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4800600"/>
            <a:ext cx="21945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C2936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138927"/>
            <a:ext cx="1028700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0">
                <a:solidFill>
                  <a:srgbClr val="4F5A61"/>
                </a:solidFill>
                <a:latin typeface="Aptos"/>
              </a:defRPr>
            </a:pPr>
            <a:r>
              <a:t>Synthetic tool-use/environment generation: Real execution environments are costly and limited; simulation scales but suffers fidelity. Hybrid approaches exist but are expensive. Reinforcement learning rewards.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plan:slide_04; slide_spec:slide_04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08 / 30 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Research Gap &amp; Approach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71500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Kimi K2 bridges agentic intelligence gap with novel engineering and scaling.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39"/>
            <a:ext cx="5257800" cy="17373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Existing models lack perception, planning, and tool use in dynamic envs. 384 experts, 8 active per token, 32.6B activated parameters. Muon optimizer with QK-Clip prevents logit explosion.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143000"/>
            <a:ext cx="4480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E V I D E N C E   N O T E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508760"/>
            <a:ext cx="4480560" cy="960120"/>
          </a:xfrm>
          <a:prstGeom prst="roundRect">
            <a:avLst/>
          </a:prstGeom>
          <a:solidFill>
            <a:srgbClr val="DBE9E3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508760"/>
            <a:ext cx="54864" cy="960120"/>
          </a:xfrm>
          <a:prstGeom prst="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627631"/>
            <a:ext cx="415137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1901952"/>
            <a:ext cx="415137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The motivating gap is twofold: (1) existing models lack robust agentic intelligence—the ability to perceive, plan, and 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624328"/>
            <a:ext cx="4480560" cy="960120"/>
          </a:xfrm>
          <a:prstGeom prst="roundRect">
            <a:avLst/>
          </a:prstGeom>
          <a:solidFill>
            <a:srgbClr val="F1E2BC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624328"/>
            <a:ext cx="54864" cy="960120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743200"/>
            <a:ext cx="415137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Reading note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3017520"/>
            <a:ext cx="415137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Existing models lack perception, planning, and tool use in dynamic envs.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739896"/>
            <a:ext cx="4480560" cy="960120"/>
          </a:xfrm>
          <a:prstGeom prst="roundRect">
            <a:avLst/>
          </a:prstGeom>
          <a:solidFill>
            <a:srgbClr val="ECD4CA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3739896"/>
            <a:ext cx="54864" cy="960120"/>
          </a:xfrm>
          <a:prstGeom prst="rect">
            <a:avLst/>
          </a:prstGeom>
          <a:solidFill>
            <a:srgbClr val="B7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3858768"/>
            <a:ext cx="415137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Reading note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4133087"/>
            <a:ext cx="415137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384 experts, 8 active per token, 32.6B activated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plan:slide_05; slide_spec:slide_05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5230368"/>
            <a:ext cx="11832336" cy="1627632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32918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C99A45"/>
                </a:solidFill>
                <a:latin typeface="Aptos"/>
              </a:defRPr>
            </a:pPr>
            <a:r>
              <a:t>S E C T I O N   0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77724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400" b="1">
                <a:solidFill>
                  <a:srgbClr val="1C2936"/>
                </a:solidFill>
                <a:latin typeface="Aptos"/>
              </a:defRPr>
            </a:pPr>
            <a:r>
              <a:t>Method &amp;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880360"/>
            <a:ext cx="96012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0">
                <a:solidFill>
                  <a:srgbClr val="4F5A61"/>
                </a:solidFill>
                <a:latin typeface="Aptos"/>
              </a:defRPr>
            </a:pPr>
            <a:r>
              <a:t>Pre-training Stability: QK-Clip / Architecture Design: MoE Sparsity and Attention Heads / Training System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66928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C2936"/>
                </a:solidFill>
                <a:latin typeface="Aptos"/>
              </a:defRPr>
            </a:pPr>
            <a:r>
              <a:t>8 content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468112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C99A45"/>
                </a:solidFill>
                <a:latin typeface="Aptos"/>
              </a:defRPr>
            </a:pPr>
            <a:r>
              <a:t>M o d u l e   c h e c k p o i n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577900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The next pages keep one claim, one support note, and one proof object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09 / 30 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10 / 30  FIGURE_EXPLAINER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78992"/>
            <a:ext cx="4983480" cy="470916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243584"/>
            <a:ext cx="45720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F I G U R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5720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C2936"/>
                </a:solidFill>
                <a:latin typeface="Aptos"/>
              </a:defRPr>
            </a:pPr>
            <a:r>
              <a:t>Figure 2</a:t>
            </a:r>
          </a:p>
        </p:txBody>
      </p:sp>
      <p:pic>
        <p:nvPicPr>
          <p:cNvPr id="7" name="Picture 6" descr="9212ec48f7c7b455d6de99b39527e2780a4b38c445ab99c91bdf2790489a62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39112"/>
            <a:ext cx="4526280" cy="3035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148072"/>
            <a:ext cx="45262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Left: logits exceed 1000 without clip; Right: max logits with MuonClip and tau=100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Pre-training Stability: QK-Clip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463040"/>
            <a:ext cx="539496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QK-Clip stabilizes Muon training by clamping attention logits at τ=100.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7" y="3063239"/>
            <a:ext cx="4963363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Max logits exceed 1000 causing loss spikes and divergence. Element-wise clamp on Q·K before softmax QK-Clip stabilizes Muon training by clamping attention logits at τ=100.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plan:slide_06; slide_spec:slide_06; figure:Figure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11 / 30  FIGURE_EXPLAINER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Architecture Design: MoE Sparsity and Attention Heads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539496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384 experts, 64 heads balance performance and inference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063239"/>
            <a:ext cx="4963363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More total experts with 8 active improves performance (Figure 384 experts, 64 heads balance performance and inference cost. Double heads give 0.5-1.2% gain but 83% more FLOPs at 128k (Figure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78992"/>
            <a:ext cx="4983480" cy="470916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243584"/>
            <a:ext cx="45720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F I G U R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581912"/>
            <a:ext cx="45720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C2936"/>
                </a:solidFill>
                <a:latin typeface="Aptos"/>
              </a:defRPr>
            </a:pPr>
            <a:r>
              <a:t>Figure 5</a:t>
            </a:r>
          </a:p>
        </p:txBody>
      </p:sp>
      <p:pic>
        <p:nvPicPr>
          <p:cNvPr id="10" name="Picture 9" descr="1f0eb35c9ac9a27b5ae58c4783c104d4104e80cc669f72e0039dfa973cfa2cf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39112"/>
            <a:ext cx="4526280" cy="3035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9400" y="5148072"/>
            <a:ext cx="45262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Sparsity scaling law: increasing total experts improves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plan:slide_07; slide_spec:slide_07; figure:Figure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12 / 30  FIGURE_EXPLAINER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78992"/>
            <a:ext cx="4983480" cy="470916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243584"/>
            <a:ext cx="45720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F I G U R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5720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C2936"/>
                </a:solidFill>
                <a:latin typeface="Aptos"/>
              </a:defRPr>
            </a:pPr>
            <a:r>
              <a:t>Figure 7</a:t>
            </a:r>
          </a:p>
        </p:txBody>
      </p:sp>
      <p:pic>
        <p:nvPicPr>
          <p:cNvPr id="7" name="Picture 6" descr="92a35d64da7262e6f07c2a4340eac23ac6303f84f5e531d9ed96d2b10c7d75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39112"/>
            <a:ext cx="4526280" cy="3035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148072"/>
            <a:ext cx="45262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Computation, communication and offloading overlapped in different PP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Training System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463040"/>
            <a:ext cx="539496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Overlapped communication and FP8 offload enable trillion-parameter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7" y="3063239"/>
            <a:ext cx="4963363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Combines PP, EP, DP to fit optimizer states into GPU memory. Computation and communication overlapped across PP phases (Figure Overlapped communication and FP8 offload enable trillion-parameter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plan:slide_08; slide_spec:slide_08; figure:Figure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13 / 30  FIGURE_EXPLAINER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Synthetic Data Augmentation for Pre-training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539496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10 rephrasings with 1 epoch improve SimpleQA accuracy by 5.18%.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063239"/>
            <a:ext cx="4963363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Long excerpts split, rewritten sequentially, concatenated (Figure 10 rephrasings with 1 epoch improve SimpleQA accuracy by 5.18%. 10 rephrasings + 1 epoch: 28.94% vs raw 10 epochs: 23.76% (Table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78992"/>
            <a:ext cx="4983480" cy="470916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243584"/>
            <a:ext cx="45720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F I G U R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581912"/>
            <a:ext cx="45720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C2936"/>
                </a:solidFill>
                <a:latin typeface="Aptos"/>
              </a:defRPr>
            </a:pPr>
            <a:r>
              <a:t>Figure 4</a:t>
            </a:r>
          </a:p>
        </p:txBody>
      </p:sp>
      <p:pic>
        <p:nvPicPr>
          <p:cNvPr id="10" name="Picture 9" descr="f33cde9d2e60ddaae229d09a9c405d4447971002229bf0c3541ee5c598f26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39112"/>
            <a:ext cx="4526280" cy="3035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9400" y="5148072"/>
            <a:ext cx="45262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Auto-regressive chunk-wise rephrasing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plan:slide_09; slide_spec:slide_09; figure:Figure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14 / 30  FIGURE_EXPLAINER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78992"/>
            <a:ext cx="4983480" cy="470916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243584"/>
            <a:ext cx="45720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F I G U R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45720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C2936"/>
                </a:solidFill>
                <a:latin typeface="Aptos"/>
              </a:defRPr>
            </a:pPr>
            <a:r>
              <a:t>Figure 8</a:t>
            </a:r>
          </a:p>
        </p:txBody>
      </p:sp>
      <p:pic>
        <p:nvPicPr>
          <p:cNvPr id="7" name="Picture 6" descr="2e396003fbebb4d90e4a2f4fe7b24c87241f6d73720efeefa548afd0383bcb9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39112"/>
            <a:ext cx="4526280" cy="3035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148072"/>
            <a:ext cx="45262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74706A"/>
                </a:solidFill>
                <a:latin typeface="Aptos"/>
              </a:defRPr>
            </a:pPr>
            <a:r>
              <a:t>Data synthesis pipeline for tool use: (a) tool specs generation, (b) multi-agent trajectory generation and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Agentic Data Synthesis for Tool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463040"/>
            <a:ext cx="539496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Combined real and synthetic tools generate millions of agentic trajectories.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7" y="3063239"/>
            <a:ext cx="4963363" cy="2148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Real MCP tools and LLM-generated synthetic tools cover the space (Figure Combined real and synthetic tools generate millions of agentic trajectories. Generation, filtering with simulated execution and sandboxes (Figure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plan:slide_10; slide_spec:slide_10; figure:Figure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15 / 30 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Supervised Fine-Tuning (SFT)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35608"/>
            <a:ext cx="9966960" cy="9208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600" b="1">
                <a:solidFill>
                  <a:srgbClr val="1C2936"/>
                </a:solidFill>
                <a:latin typeface="Aptos"/>
              </a:defRPr>
            </a:pPr>
            <a:r>
              <a:t>SFT provides foundation for RL with mixed instruction data and tool format.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688336"/>
            <a:ext cx="9169603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Agentic trajectories, coding, math, general instruction examples. System prompts, tool calls, and assistant responses included. SFT data periodically replayed during RL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59352"/>
            <a:ext cx="102412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E V I D E N C E   N O T E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60520"/>
            <a:ext cx="3316224" cy="1353312"/>
          </a:xfrm>
          <a:prstGeom prst="roundRect">
            <a:avLst/>
          </a:prstGeom>
          <a:solidFill>
            <a:srgbClr val="DBE9E3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160520"/>
            <a:ext cx="54864" cy="1353312"/>
          </a:xfrm>
          <a:prstGeom prst="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279392"/>
            <a:ext cx="29870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C2936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553712"/>
            <a:ext cx="2987040" cy="8961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4F5A61"/>
                </a:solidFill>
                <a:latin typeface="Aptos"/>
              </a:defRPr>
            </a:pPr>
            <a:r>
              <a:t>Before RL, the model undergoes supervised fine-tuning on a mixture of high-quality instruction data, including agentic trajectories, coding.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9768" y="4160520"/>
            <a:ext cx="3316224" cy="1353312"/>
          </a:xfrm>
          <a:prstGeom prst="roundRect">
            <a:avLst/>
          </a:prstGeom>
          <a:solidFill>
            <a:srgbClr val="F1E2BC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9768" y="4160520"/>
            <a:ext cx="54864" cy="1353312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279392"/>
            <a:ext cx="29870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C2936"/>
                </a:solidFill>
                <a:latin typeface="Aptos"/>
              </a:defRPr>
            </a:pPr>
            <a:r>
              <a:t>Reading note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553712"/>
            <a:ext cx="2987040" cy="8961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4F5A61"/>
                </a:solidFill>
                <a:latin typeface="Aptos"/>
              </a:defRPr>
            </a:pPr>
            <a:r>
              <a:t>Agentic trajectories, coding, math, general instruction examples.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2296" y="4160520"/>
            <a:ext cx="3316224" cy="1353312"/>
          </a:xfrm>
          <a:prstGeom prst="roundRect">
            <a:avLst/>
          </a:prstGeom>
          <a:solidFill>
            <a:srgbClr val="ECD4CA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02296" y="4160520"/>
            <a:ext cx="54864" cy="1353312"/>
          </a:xfrm>
          <a:prstGeom prst="rect">
            <a:avLst/>
          </a:prstGeom>
          <a:solidFill>
            <a:srgbClr val="B7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6888" y="4279392"/>
            <a:ext cx="29870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C2936"/>
                </a:solidFill>
                <a:latin typeface="Aptos"/>
              </a:defRPr>
            </a:pPr>
            <a:r>
              <a:t>Reading note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6888" y="4553712"/>
            <a:ext cx="2987040" cy="8961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0">
                <a:solidFill>
                  <a:srgbClr val="4F5A61"/>
                </a:solidFill>
                <a:latin typeface="Aptos"/>
              </a:defRPr>
            </a:pPr>
            <a:r>
              <a:t>System prompts, tool calls, and assistant responses included.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plan:slide_11; slide_spec:slide_11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16 / 30 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Reinforcement Learning: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6400800" cy="1320393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Multi-stage RL with self-critique handles both verifiable and subjective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063239"/>
            <a:ext cx="5888736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Math/coding with test suites Multi-stage RL with self-critique handles both verifiable and subjective tasks. Model judges its own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097280"/>
            <a:ext cx="3611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E V I D E N C E   N O T E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463040"/>
            <a:ext cx="3611880" cy="960120"/>
          </a:xfrm>
          <a:prstGeom prst="roundRect">
            <a:avLst/>
          </a:prstGeom>
          <a:solidFill>
            <a:srgbClr val="DBE9E3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463040"/>
            <a:ext cx="54864" cy="960120"/>
          </a:xfrm>
          <a:prstGeom prst="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581912"/>
            <a:ext cx="32826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1856232"/>
            <a:ext cx="328269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RL training scales across many verifiable environments (math, coding, software engineering with test suites) and subjective tasks (creative.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578608"/>
            <a:ext cx="3611880" cy="960120"/>
          </a:xfrm>
          <a:prstGeom prst="roundRect">
            <a:avLst/>
          </a:prstGeom>
          <a:solidFill>
            <a:srgbClr val="F1E2BC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2578608"/>
            <a:ext cx="54864" cy="960120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697480"/>
            <a:ext cx="32826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Reading note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971800"/>
            <a:ext cx="328269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Math/coding with test suites Multi-stage RL with self-critique handles both verifiable and subjective 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3694176"/>
            <a:ext cx="3611880" cy="960120"/>
          </a:xfrm>
          <a:prstGeom prst="roundRect">
            <a:avLst/>
          </a:prstGeom>
          <a:solidFill>
            <a:srgbClr val="ECD4CA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694176"/>
            <a:ext cx="54864" cy="960120"/>
          </a:xfrm>
          <a:prstGeom prst="rect">
            <a:avLst/>
          </a:prstGeom>
          <a:solidFill>
            <a:srgbClr val="B7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3813048"/>
            <a:ext cx="32826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Reading note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4087368"/>
            <a:ext cx="328269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Model judges its own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plan:slide_12; slide_spec:slide_12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17 / 30 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RL: Self-Critique Rubric and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71500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Closed-loop critic refinement prevents reward hacking and forgetting.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39"/>
            <a:ext cx="5257800" cy="17373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Critic scores multiple responses per prompt against rubric. Trained on verifiable tasks to improve scoring accuracy. Prevents divergence from SFT model and catastrophic forgetting.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143000"/>
            <a:ext cx="4480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E V I D E N C E   N O T E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508760"/>
            <a:ext cx="4480560" cy="960120"/>
          </a:xfrm>
          <a:prstGeom prst="roundRect">
            <a:avLst/>
          </a:prstGeom>
          <a:solidFill>
            <a:srgbClr val="DBE9E3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508760"/>
            <a:ext cx="54864" cy="960120"/>
          </a:xfrm>
          <a:prstGeom prst="rect">
            <a:avLst/>
          </a:prstGeom>
          <a:solidFill>
            <a:srgbClr val="4B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627631"/>
            <a:ext cx="415137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1901952"/>
            <a:ext cx="415137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The self-critique rubric reward mechanism: For a given prompt, the model generates multiple responses. A critic (the same.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624328"/>
            <a:ext cx="4480560" cy="960120"/>
          </a:xfrm>
          <a:prstGeom prst="roundRect">
            <a:avLst/>
          </a:prstGeom>
          <a:solidFill>
            <a:srgbClr val="F1E2BC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624328"/>
            <a:ext cx="54864" cy="960120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743200"/>
            <a:ext cx="415137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Reading note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3017520"/>
            <a:ext cx="415137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Critic scores multiple responses per prompt against rubric.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739896"/>
            <a:ext cx="4480560" cy="960120"/>
          </a:xfrm>
          <a:prstGeom prst="roundRect">
            <a:avLst/>
          </a:prstGeom>
          <a:solidFill>
            <a:srgbClr val="ECD4CA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3739896"/>
            <a:ext cx="54864" cy="960120"/>
          </a:xfrm>
          <a:prstGeom prst="rect">
            <a:avLst/>
          </a:prstGeom>
          <a:solidFill>
            <a:srgbClr val="B7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3858768"/>
            <a:ext cx="415137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1">
                <a:solidFill>
                  <a:srgbClr val="1C2936"/>
                </a:solidFill>
                <a:latin typeface="Aptos"/>
              </a:defRPr>
            </a:pPr>
            <a:r>
              <a:t>Reading note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4133087"/>
            <a:ext cx="4151376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Trained on verifiable tasks to improve scoring accuracy.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plan:slide_13; slide_spec:slide_13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B7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5230368"/>
            <a:ext cx="11832336" cy="1627632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32918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B76B57"/>
                </a:solidFill>
                <a:latin typeface="Aptos"/>
              </a:defRPr>
            </a:pPr>
            <a:r>
              <a:t>S E C T I O N   0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77724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400" b="1">
                <a:solidFill>
                  <a:srgbClr val="1C2936"/>
                </a:solidFill>
                <a:latin typeface="Aptos"/>
              </a:defRPr>
            </a:pPr>
            <a:r>
              <a:t>Experiments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880360"/>
            <a:ext cx="96012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0">
                <a:solidFill>
                  <a:srgbClr val="4F5A61"/>
                </a:solidFill>
                <a:latin typeface="Aptos"/>
              </a:defRPr>
            </a:pPr>
            <a:r>
              <a:t>Base Model Evaluation / Instruct Model Main Results / Detailed Coding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66928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C2936"/>
                </a:solidFill>
                <a:latin typeface="Aptos"/>
              </a:defRPr>
            </a:pPr>
            <a:r>
              <a:t>9 content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468112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B76B57"/>
                </a:solidFill>
                <a:latin typeface="Aptos"/>
              </a:defRPr>
            </a:pPr>
            <a:r>
              <a:t>M o d u l e   c h e c k p o i n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577900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The next pages keep one claim, one support note, and one proof object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18 / 30 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19 / 30  TABLE_INTERPRETATION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806440" cy="480060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216151"/>
            <a:ext cx="5394959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T A B L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5394959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C2936"/>
                </a:solidFill>
                <a:latin typeface="Aptos"/>
              </a:defRPr>
            </a:pPr>
            <a:r>
              <a:t>Table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84248"/>
          <a:ext cx="5349240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/>
                <a:gridCol w="891540"/>
                <a:gridCol w="891540"/>
                <a:gridCol w="891540"/>
                <a:gridCol w="891540"/>
                <a:gridCol w="891540"/>
              </a:tblGrid>
              <a:tr h="25181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Benchmark (Metrie) |#Shots.</a:t>
                      </a: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Architecture #Activated Params # Total Params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- - -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MoE 32B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MoE 37B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MoE 17B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English TriviaQA BBH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MMLU MMLU-pro MMLU-redux SuperGPQA.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|:5hts id 5-shots 5-shots 5-shots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1043B 87.79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671B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400B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87.10 84.87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86.08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69.17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60.59 63.47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62.80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90.17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89.53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88.18 87.77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44.67 39.20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38.84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34.23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i5shots 48.11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50.51 49.43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40.78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5-shots 35.25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26.49 23.74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10.31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5-shots 85.09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84.11 79.25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76.03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3-shots 88.71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88.37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87.10 84.09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HellaSwag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5-shots 94.60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89.44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86.02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95.27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20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AGIEval ARC-Challenge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0-shot 一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84.23 95.73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81.57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67.55 76.87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0096"/>
            <a:ext cx="53492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74706A"/>
                </a:solidFill>
                <a:latin typeface="Aptos"/>
              </a:defRPr>
            </a:pPr>
            <a:r>
              <a:t>Performance comparison of Kimi-K2-Base against leading open-source models across diverse tasks. Showing 13/25 parsed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960120"/>
            <a:ext cx="4572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Base Model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63040"/>
            <a:ext cx="457200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C2936"/>
                </a:solidFill>
                <a:latin typeface="Aptos"/>
              </a:defRPr>
            </a:pPr>
            <a:r>
              <a:t>Kimi K2 Base surpasses DeepSeek-V3-Base on 15/20 metrics with fewer activated params.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7" y="3063239"/>
            <a:ext cx="4206240" cy="21945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MMLU 90.17, BBH 69.17, MATH 70.22, GSM8k 92.12 (Table Kimi K2 Base surpasses DeepSeek-V3-Base on 15/20 metrics with fewer activated params. 32.6B activated vs DeepSeek 37B, yet leads on most tasks.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plan:slide_14; slide_spec:slide_14; table:Table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20 / 30  TABLE_INTERPRETATION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Instruct Model Main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789920" cy="799185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C2936"/>
                </a:solidFill>
                <a:latin typeface="Aptos"/>
              </a:defRPr>
            </a:pPr>
            <a:r>
              <a:t>Kimi K2 Instruct achieves open-source SOTA on coding and tool use, competitive with proprietary.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487168"/>
            <a:ext cx="9926726" cy="7132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LiveCodeBench 53.7, SWE-bench Verified Single 65.8 (Table Kimi K2 Instruct achieves open-source SOTA on coding and tool use, competitive with proprietary. Tau2 retail 70.6, airline 56.5, telecom 65.8, best open-source.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10835640" cy="269748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364992"/>
            <a:ext cx="104241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T A B L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703320"/>
            <a:ext cx="1042416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C2936"/>
                </a:solidFill>
                <a:latin typeface="Aptos"/>
              </a:defRPr>
            </a:pPr>
            <a:r>
              <a:t>Table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4133087"/>
          <a:ext cx="103784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740"/>
                <a:gridCol w="1729740"/>
                <a:gridCol w="1729740"/>
                <a:gridCol w="1729740"/>
                <a:gridCol w="1729740"/>
                <a:gridCol w="1729740"/>
              </a:tblGrid>
              <a:tr h="23408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Open Source</a:t>
                      </a: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Proprietary</a:t>
                      </a: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Benchmark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Kimi-K2- Instruct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DeepSeek- V3-0324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Qwen3- 235B-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Claude Sonnet 4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Claude Opus 4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Coding Tasks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LiveCodeBench v6 (Pass @1)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53.7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46.9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37.0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48.5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47.4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34088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OJBench (Pass @1)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27.1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24.0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11.3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15.3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19.6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5385816"/>
            <a:ext cx="1037844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74706A"/>
                </a:solidFill>
                <a:latin typeface="Aptos"/>
              </a:defRPr>
            </a:pPr>
            <a:r>
              <a:t>Performance comparison of Kimi-K2-Instruct against leading open-source and proprietary models across diverse tasks. Bold denotes the global SOTA; underlined bold indicates the best open-source result. Data points marked with $^ *$ are taken directly from the model’s technical report or blog. Showing 5/50 parsed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plan:slide_15; slide_spec:slide_15; table:Table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21 / 30 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Detailed Coding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9784080" cy="10424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Kimi K2 leads open-source coding benchmarks across multiple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39"/>
            <a:ext cx="9001353" cy="7132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53.7 Pass@1, ahead of all open-source and even GPT-4.1 (44.7). Single-attempt 65.8, multi-attempt 71.6, both open-source best. SWE-bench Multilingual 47.3, Terminal Bench In-House 30.0.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480560"/>
            <a:ext cx="2473452" cy="1234440"/>
          </a:xfrm>
          <a:prstGeom prst="roundRect">
            <a:avLst/>
          </a:prstGeom>
          <a:solidFill>
            <a:srgbClr val="2F5F5A"/>
          </a:solidFill>
          <a:ln>
            <a:solidFill>
              <a:srgbClr val="2F5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636008"/>
            <a:ext cx="2144268" cy="469087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FFFDF8"/>
                </a:solidFill>
                <a:latin typeface="Aptos"/>
              </a:defRPr>
            </a:pPr>
            <a:r>
              <a:t>53.7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5221224"/>
            <a:ext cx="2144268" cy="30861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DBE9E3"/>
                </a:solidFill>
                <a:latin typeface="Aptos"/>
              </a:defRPr>
            </a:pPr>
            <a:r>
              <a:t>LiveCodeBench v6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0420" y="4480560"/>
            <a:ext cx="2473452" cy="123444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5012" y="4636008"/>
            <a:ext cx="2144268" cy="469087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65.8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5012" y="5221224"/>
            <a:ext cx="2144268" cy="30861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Single-attempt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480560"/>
            <a:ext cx="2473452" cy="123444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4636008"/>
            <a:ext cx="2144268" cy="469087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71.6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5221224"/>
            <a:ext cx="2144268" cy="30861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multi-attempt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26780" y="4480560"/>
            <a:ext cx="2473452" cy="123444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91372" y="4636008"/>
            <a:ext cx="2144268" cy="469087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47.3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1372" y="5221224"/>
            <a:ext cx="2144268" cy="30861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SWE-bench Multilingual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plan:slide_16; slide_spec:slide_16; metric:LiveCodeBench v6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22 / 30 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Detailed Tool Use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34924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Top open-source tool use, competitive with Claude Opus and GPT-4.1.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39"/>
            <a:ext cx="4921300" cy="17830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70.6, close to Claude Sonnet 75.0 and GPT-4.1 74.8. 56.5, far above DeepSeek 39.0 and Qwen3 26.5. 65.8 beats Claude Opus 57.0 and GPT-4.1 38.6.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234440"/>
            <a:ext cx="4526280" cy="3977639"/>
          </a:xfrm>
          <a:prstGeom prst="roundRect">
            <a:avLst/>
          </a:prstGeom>
          <a:solidFill>
            <a:srgbClr val="EEE9DE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0690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K E Y   E V I D E N C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920240"/>
            <a:ext cx="3977640" cy="1051560"/>
          </a:xfrm>
          <a:prstGeom prst="roundRect">
            <a:avLst/>
          </a:prstGeom>
          <a:solidFill>
            <a:srgbClr val="2F5F5A"/>
          </a:solidFill>
          <a:ln>
            <a:solidFill>
              <a:srgbClr val="2F5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1" y="2075688"/>
            <a:ext cx="3648456" cy="399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FFFDF8"/>
                </a:solidFill>
                <a:latin typeface="Aptos"/>
              </a:defRPr>
            </a:pPr>
            <a:r>
              <a:t>70.6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2551176"/>
            <a:ext cx="3648456" cy="26289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DBE9E3"/>
                </a:solidFill>
                <a:latin typeface="Aptos"/>
              </a:defRPr>
            </a:pPr>
            <a:r>
              <a:t>Tau2 retail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154680"/>
            <a:ext cx="3977640" cy="50292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3310128"/>
            <a:ext cx="364845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75.0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1" y="3456432"/>
            <a:ext cx="364845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close to Claude Sonnet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813048"/>
            <a:ext cx="3977640" cy="50292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1" y="3968496"/>
            <a:ext cx="364845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39.0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4114800"/>
            <a:ext cx="364845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far above DeepSeek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4471416"/>
            <a:ext cx="3977640" cy="50292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1" y="4626864"/>
            <a:ext cx="364845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26.5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1" y="4773168"/>
            <a:ext cx="364845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and Qwen3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plan:slide_17; slide_spec:slide_17; metric:Tau2 retail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23 / 30 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K E Y   E V I D E N C 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4389120" cy="1234440"/>
          </a:xfrm>
          <a:prstGeom prst="roundRect">
            <a:avLst/>
          </a:prstGeom>
          <a:solidFill>
            <a:srgbClr val="2F5F5A"/>
          </a:solidFill>
          <a:ln>
            <a:solidFill>
              <a:srgbClr val="2F5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01368"/>
            <a:ext cx="4059935" cy="469087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FFFDF8"/>
                </a:solidFill>
                <a:latin typeface="Aptos"/>
              </a:defRPr>
            </a:pPr>
            <a:r>
              <a:t>69.6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86584"/>
            <a:ext cx="4059935" cy="30861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DBE9E3"/>
                </a:solidFill>
                <a:latin typeface="Aptos"/>
              </a:defRPr>
            </a:pPr>
            <a:r>
              <a:t>AIME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08960"/>
            <a:ext cx="2084831" cy="82296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264408"/>
            <a:ext cx="1755648" cy="3127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59.4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602736"/>
            <a:ext cx="1755648" cy="2057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ahead of DeepSeek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108960"/>
            <a:ext cx="2084831" cy="82296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3264408"/>
            <a:ext cx="1755648" cy="3127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74.9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602736"/>
            <a:ext cx="1755648" cy="2057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close to Claude Opus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Math &amp; STEM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463040"/>
            <a:ext cx="548640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Best open-source math reasoning, rivaling proprietary models.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7" y="3063239"/>
            <a:ext cx="5047488" cy="18745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69.6 Avg@64, ahead of DeepSeek 59.4* and GPT-4.1 46.5. 97.4 accuracy, surpassing all open-source and proprietary. 75.1 Avg@8, best open-source, close to Claude Opus 74.9*.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plan:slide_18; slide_spec:slide_18; metric:AIME 2024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24 / 30 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General Task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9784080" cy="10424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Strong general knowledge and instruction following while excelling in agentic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39"/>
            <a:ext cx="9001353" cy="7132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89.5 EM, close to GPT-4.1 90.4 and Claude Sonnet 91.5. 89.8 Prompt Strict, best among open-source and proprietary. 85.0 win rate on creative writing, best overall.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480560"/>
            <a:ext cx="5056632" cy="1234440"/>
          </a:xfrm>
          <a:prstGeom prst="roundRect">
            <a:avLst/>
          </a:prstGeom>
          <a:solidFill>
            <a:srgbClr val="2F5F5A"/>
          </a:solidFill>
          <a:ln>
            <a:solidFill>
              <a:srgbClr val="2F5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636008"/>
            <a:ext cx="4727448" cy="469087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FFFDF8"/>
                </a:solidFill>
                <a:latin typeface="Aptos"/>
              </a:defRPr>
            </a:pPr>
            <a:r>
              <a:t>89.5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5221224"/>
            <a:ext cx="4727448" cy="30861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DBE9E3"/>
                </a:solidFill>
                <a:latin typeface="Aptos"/>
              </a:defRPr>
            </a:pPr>
            <a:r>
              <a:t>MMLU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480560"/>
            <a:ext cx="5056632" cy="123444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4636008"/>
            <a:ext cx="4727448" cy="469087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91.5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5221224"/>
            <a:ext cx="4727448" cy="30861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and Claude Sonnet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plan:slide_19; slide_spec:slide_19; metric:MMLU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25 / 30 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Long Context and Factuality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34924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128k context with high factuality and low hallucination.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39"/>
            <a:ext cx="4921300" cy="17830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49.1, on par with proprietary models. HHEM v2.1 98.9, FaithJudge 92.6, FACTS Grounding 88.5. Architecture supports 128k context length for agentic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234440"/>
            <a:ext cx="4526280" cy="3977639"/>
          </a:xfrm>
          <a:prstGeom prst="roundRect">
            <a:avLst/>
          </a:prstGeom>
          <a:solidFill>
            <a:srgbClr val="EEE9DE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0690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K E Y   E V I D E N C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920240"/>
            <a:ext cx="3977640" cy="1051560"/>
          </a:xfrm>
          <a:prstGeom prst="roundRect">
            <a:avLst/>
          </a:prstGeom>
          <a:solidFill>
            <a:srgbClr val="2F5F5A"/>
          </a:solidFill>
          <a:ln>
            <a:solidFill>
              <a:srgbClr val="2F5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1" y="2075688"/>
            <a:ext cx="3648456" cy="399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FFFDF8"/>
                </a:solidFill>
                <a:latin typeface="Aptos"/>
              </a:defRPr>
            </a:pPr>
            <a:r>
              <a:t>49.1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2551176"/>
            <a:ext cx="3648456" cy="26289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DBE9E3"/>
                </a:solidFill>
                <a:latin typeface="Aptos"/>
              </a:defRPr>
            </a:pPr>
            <a:r>
              <a:t>LongBench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154680"/>
            <a:ext cx="3977640" cy="50292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3310128"/>
            <a:ext cx="364845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92.6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1" y="3456432"/>
            <a:ext cx="364845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FaithJudge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813048"/>
            <a:ext cx="3977640" cy="50292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1" y="3968496"/>
            <a:ext cx="364845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88.5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4114800"/>
            <a:ext cx="364845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FACTS Grounding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4471416"/>
            <a:ext cx="3977640" cy="50292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1" y="4626864"/>
            <a:ext cx="364845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1" y="4773168"/>
            <a:ext cx="364845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Architecture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plan:slide_20; slide_spec:slide_20; metric:LongBench v2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26 / 30  TABLE_INTERPRETATION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Safety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789920" cy="799185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C2936"/>
                </a:solidFill>
                <a:latin typeface="Aptos"/>
              </a:defRPr>
            </a:pPr>
            <a:r>
              <a:t>Safety evaluation covers 5 plugins with 5 attack strategies.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487168"/>
            <a:ext cx="9926726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Harmful, Criminal, Misinformation, Privacy, Security (Table Safety evaluation covers 5 plugins with 5 attack strategies. Basic, Base64, Prompt Injection, Iterative Jailbreak, Crescendo.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10835640" cy="269748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364992"/>
            <a:ext cx="104241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T A B L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703320"/>
            <a:ext cx="1042416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C2936"/>
                </a:solidFill>
                <a:latin typeface="Aptos"/>
              </a:defRPr>
            </a:pPr>
            <a:r>
              <a:t>Table 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4133087"/>
          <a:ext cx="103784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9480"/>
                <a:gridCol w="3459480"/>
                <a:gridCol w="3459480"/>
              </a:tblGrid>
              <a:tr h="23408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Plugin</a:t>
                      </a: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Harmful</a:t>
                      </a: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Graphic Content, Harassment and Bullying, Hate.</a:t>
                      </a: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Criminal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Chemical&amp;Biological Weapons, Child Exploitation.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Misinformation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Competitor Endorsement, Unsupervised Contracts.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Privacy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Privacy Violation, PII in API/Database, Direct PII.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34088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Security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ASCII Smuggling, CyberSecEval, Harmbench, Debug.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5385816"/>
            <a:ext cx="103784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74706A"/>
                </a:solidFill>
                <a:latin typeface="Aptos"/>
              </a:defRPr>
            </a:pPr>
            <a:r>
              <a:t>Enabled Plugins and Strategies Showing 5/6 parsed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plan:slide_21; slide_spec:slide_21; table:Table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27 / 30  TABLE_INTERPRETATION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806440" cy="480060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216151"/>
            <a:ext cx="5394959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T A B L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5394959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C2936"/>
                </a:solidFill>
                <a:latin typeface="Aptos"/>
              </a:defRPr>
            </a:pPr>
            <a:r>
              <a:t>Table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84248"/>
          <a:ext cx="5349240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/>
                <a:gridCol w="891540"/>
                <a:gridCol w="891540"/>
                <a:gridCol w="891540"/>
                <a:gridCol w="891540"/>
                <a:gridCol w="891540"/>
              </a:tblGrid>
              <a:tr h="25181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Plugin Strategy</a:t>
                      </a: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Kimi-K2-Instruct |DeepSeek-V3-0324 DeepSeek-R1.</a:t>
                      </a: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DBE9E3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Harmful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Basic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98.04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90.45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99.02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98.53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Base64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90.20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Prompt Injection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93.14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95.10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99.02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Iterative Jailbreak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92.16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66.67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72.55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74.51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Crescendo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64.71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64.71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80.39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86.27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Criminal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Basic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99.62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95.45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99.24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Base64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96.97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89.39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84.85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98.48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Prompt Injection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75.76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91.67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69.70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98.47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Iterative Jailbreak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57.57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21.21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25.76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53.03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Crescendo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56.06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31.81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42.42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59.09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  <a:tr h="251811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Misinformation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Basic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97.28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92.57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92.46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94.84</a:t>
                      </a:r>
                    </a:p>
                  </a:txBody>
                  <a:tcPr marL="27432" marR="27432" marT="18288" marB="18288">
                    <a:solidFill>
                      <a:srgbClr val="FFFDF8"/>
                    </a:solidFill>
                  </a:tcPr>
                </a:tc>
              </a:tr>
              <a:tr h="251820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Base64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98.48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90.48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96.83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  <a:r>
                        <a:t>93.65</a:t>
                      </a: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1C2936"/>
                          </a:solidFill>
                          <a:latin typeface="Aptos"/>
                        </a:defRPr>
                      </a:pPr>
                    </a:p>
                  </a:txBody>
                  <a:tcPr marL="27432" marR="27432" marT="18288" marB="18288">
                    <a:solidFill>
                      <a:srgbClr val="F7F2E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0096"/>
            <a:ext cx="53492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74706A"/>
                </a:solidFill>
                <a:latin typeface="Aptos"/>
              </a:defRPr>
            </a:pPr>
            <a:r>
              <a:t>Safety Evaluation Results Showing 13/26 parsed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960120"/>
            <a:ext cx="4572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Safety Evaluation Detailed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63040"/>
            <a:ext cx="457200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C2936"/>
                </a:solidFill>
                <a:latin typeface="Aptos"/>
              </a:defRPr>
            </a:pPr>
            <a:r>
              <a:t>Kimi K2 strong on harmful and criminal prevention; security needs improvement.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7" y="3063239"/>
            <a:ext cx="4206240" cy="21945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92.16 vs DeepSeek 66.67 Kimi K2 strong on harmful and criminal prevention; security needs improvement. 96.97 vs DeepSeek 89.39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plan:slide_22; slide_spec:slide_22; table:Table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2F5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5230368"/>
            <a:ext cx="11832336" cy="1627632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32918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2F5F5A"/>
                </a:solidFill>
                <a:latin typeface="Aptos"/>
              </a:defRPr>
            </a:pPr>
            <a:r>
              <a:t>S E C T I O N   0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77724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400" b="1">
                <a:solidFill>
                  <a:srgbClr val="1C2936"/>
                </a:solidFill>
                <a:latin typeface="Aptos"/>
              </a:defRPr>
            </a:pPr>
            <a:r>
              <a:t>Summary &amp;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880360"/>
            <a:ext cx="96012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0">
                <a:solidFill>
                  <a:srgbClr val="4F5A61"/>
                </a:solidFill>
                <a:latin typeface="Aptos"/>
              </a:defRPr>
            </a:pPr>
            <a:r>
              <a:t>Contributions &amp; 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66928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C2936"/>
                </a:solidFill>
                <a:latin typeface="Aptos"/>
              </a:defRPr>
            </a:pPr>
            <a:r>
              <a:t>1 content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468112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M o d u l e   c h e c k p o i n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577900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4F5A61"/>
                </a:solidFill>
                <a:latin typeface="Aptos"/>
              </a:defRPr>
            </a:pPr>
            <a:r>
              <a:t>The next pages keep one claim, one support note, and one proof object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28 / 30 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29 / 30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49377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2F5F5A"/>
                </a:solidFill>
                <a:latin typeface="Aptos"/>
              </a:defRPr>
            </a:pPr>
            <a:r>
              <a:t>Contributions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34924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500" b="1">
                <a:solidFill>
                  <a:srgbClr val="1C2936"/>
                </a:solidFill>
                <a:latin typeface="Aptos"/>
              </a:defRPr>
            </a:pPr>
            <a:r>
              <a:t>Six contributions spanning model, training, data, and RL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39"/>
            <a:ext cx="4921300" cy="17830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0">
                <a:solidFill>
                  <a:srgbClr val="4F5A61"/>
                </a:solidFill>
                <a:latin typeface="Aptos"/>
              </a:defRPr>
            </a:pPr>
            <a:r>
              <a:t>1.04T MoE with 32.6B activated, SOTA on agentic tasks. Simple element-wise clamp prevents logit explosion. 384 experts, 64 heads, 1 dense layer balance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234440"/>
            <a:ext cx="4526280" cy="3977639"/>
          </a:xfrm>
          <a:prstGeom prst="roundRect">
            <a:avLst/>
          </a:prstGeom>
          <a:solidFill>
            <a:srgbClr val="EEE9DE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0690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2F5F5A"/>
                </a:solidFill>
                <a:latin typeface="Aptos"/>
              </a:defRPr>
            </a:pPr>
            <a:r>
              <a:t>K E Y   E V I D E N C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920240"/>
            <a:ext cx="3977640" cy="1051560"/>
          </a:xfrm>
          <a:prstGeom prst="roundRect">
            <a:avLst/>
          </a:prstGeom>
          <a:solidFill>
            <a:srgbClr val="2F5F5A"/>
          </a:solidFill>
          <a:ln>
            <a:solidFill>
              <a:srgbClr val="2F5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1" y="2075688"/>
            <a:ext cx="3648456" cy="399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FFFDF8"/>
                </a:solidFill>
                <a:latin typeface="Aptos"/>
              </a:defRPr>
            </a:pPr>
            <a:r>
              <a:t>1.04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2551176"/>
            <a:ext cx="3648456" cy="26289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DBE9E3"/>
                </a:solidFill>
                <a:latin typeface="Aptos"/>
              </a:defRPr>
            </a:pPr>
            <a:r>
              <a:t>Contributions &amp; Key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154680"/>
            <a:ext cx="3977640" cy="502920"/>
          </a:xfrm>
          <a:prstGeom prst="roundRect">
            <a:avLst/>
          </a:prstGeom>
          <a:solidFill>
            <a:srgbClr val="F4EFE6"/>
          </a:solidFill>
          <a:ln>
            <a:solidFill>
              <a:srgbClr val="D8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3310128"/>
            <a:ext cx="364845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C2936"/>
                </a:solidFill>
                <a:latin typeface="Aptos"/>
              </a:defRPr>
            </a:pPr>
            <a:r>
              <a:t>32.6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1" y="3456432"/>
            <a:ext cx="364845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4F5A61"/>
                </a:solidFill>
                <a:latin typeface="Aptos"/>
              </a:defRPr>
            </a:pPr>
            <a:r>
              <a:t>T MoE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281928"/>
            <a:ext cx="106984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700" b="0">
                <a:solidFill>
                  <a:srgbClr val="74706A"/>
                </a:solidFill>
                <a:latin typeface="Aptos"/>
              </a:defRPr>
            </a:pPr>
            <a:r>
              <a:t>Sources: plan:slide_23; slide_spec:slide_23; metric:Contributions &amp; Key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43800" y="0"/>
            <a:ext cx="4645152" cy="6858000"/>
          </a:xfrm>
          <a:prstGeom prst="rect">
            <a:avLst/>
          </a:prstGeom>
          <a:solidFill>
            <a:srgbClr val="2F5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09728" cy="6858000"/>
          </a:xfrm>
          <a:prstGeom prst="rect">
            <a:avLst/>
          </a:prstGeom>
          <a:solidFill>
            <a:srgbClr val="C9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7724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2F5F5A"/>
                </a:solidFill>
                <a:latin typeface="Aptos"/>
              </a:defRPr>
            </a:pPr>
            <a:r>
              <a:t>S U M M A R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59436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400" b="1">
                <a:solidFill>
                  <a:srgbClr val="1C2936"/>
                </a:solidFill>
                <a:latin typeface="Aptos"/>
              </a:defRPr>
            </a:pPr>
            <a:r>
              <a:t>Thanks for watching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606040"/>
            <a:ext cx="612648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0">
                <a:solidFill>
                  <a:srgbClr val="4F5A61"/>
                </a:solidFill>
                <a:latin typeface="Aptos"/>
              </a:defRPr>
            </a:pPr>
            <a:r>
              <a:t>Kimi K2 shows how open-weight agentic intelligence depends on architecture, training stability, data synthesis, RL, and broad evaluation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4498848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F1E2BC"/>
                </a:solidFill>
                <a:latin typeface="Aptos"/>
              </a:defRPr>
            </a:pPr>
            <a:r>
              <a:t>C o n t e n t   l i n e a g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4864608"/>
            <a:ext cx="329184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FFFDF8"/>
                </a:solidFill>
                <a:latin typeface="Aptos"/>
              </a:defRPr>
            </a:pPr>
            <a:r>
              <a:t>Kimi K2: Open Agentic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5687568"/>
            <a:ext cx="3246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DBE9E3"/>
                </a:solidFill>
                <a:latin typeface="Aptos"/>
              </a:defRPr>
            </a:pPr>
            <a:r>
              <a:t>Parsed checkpoints -&gt; authored slide narrative -&gt; visual QA manifest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1">
                <a:solidFill>
                  <a:srgbClr val="74706A"/>
                </a:solidFill>
                <a:latin typeface="Aptos"/>
              </a:defRPr>
            </a:pPr>
            <a:r>
              <a:t>30 / 30  CLOSING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8368"/>
            <a:ext cx="11064240" cy="9144"/>
          </a:xfrm>
          <a:prstGeom prst="rect">
            <a:avLst/>
          </a:prstGeom>
          <a:solidFill>
            <a:srgbClr val="D8D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